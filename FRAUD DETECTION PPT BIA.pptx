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7"/>
  </p:notesMasterIdLst>
  <p:sldIdLst>
    <p:sldId id="256" r:id="rId2"/>
    <p:sldId id="714" r:id="rId3"/>
    <p:sldId id="674" r:id="rId4"/>
    <p:sldId id="715" r:id="rId5"/>
    <p:sldId id="716" r:id="rId6"/>
    <p:sldId id="717" r:id="rId7"/>
    <p:sldId id="720" r:id="rId8"/>
    <p:sldId id="719" r:id="rId9"/>
    <p:sldId id="718" r:id="rId10"/>
    <p:sldId id="721" r:id="rId11"/>
    <p:sldId id="711" r:id="rId12"/>
    <p:sldId id="303" r:id="rId13"/>
    <p:sldId id="713" r:id="rId14"/>
    <p:sldId id="712" r:id="rId15"/>
    <p:sldId id="67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E639D7-18D1-40C8-823A-D81304CC433C}" v="76" dt="2026-03-26T20:30:28.6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77" d="100"/>
          <a:sy n="77" d="100"/>
        </p:scale>
        <p:origin x="802" y="6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reen Mariyam" userId="598b0c5c15ceddd7" providerId="LiveId" clId="{DA4778E4-3313-4DCE-8A55-DFD9EA8EAF54}"/>
    <pc:docChg chg="custSel addSld modSld sldOrd">
      <pc:chgData name="Mahreen Mariyam" userId="598b0c5c15ceddd7" providerId="LiveId" clId="{DA4778E4-3313-4DCE-8A55-DFD9EA8EAF54}" dt="2026-03-26T20:30:41.903" v="139" actId="14100"/>
      <pc:docMkLst>
        <pc:docMk/>
      </pc:docMkLst>
      <pc:sldChg chg="addSp modSp mod ord">
        <pc:chgData name="Mahreen Mariyam" userId="598b0c5c15ceddd7" providerId="LiveId" clId="{DA4778E4-3313-4DCE-8A55-DFD9EA8EAF54}" dt="2026-03-26T20:17:32.066" v="79" actId="1036"/>
        <pc:sldMkLst>
          <pc:docMk/>
          <pc:sldMk cId="21174015" sldId="719"/>
        </pc:sldMkLst>
        <pc:spChg chg="mod">
          <ac:chgData name="Mahreen Mariyam" userId="598b0c5c15ceddd7" providerId="LiveId" clId="{DA4778E4-3313-4DCE-8A55-DFD9EA8EAF54}" dt="2026-03-26T20:12:31.031" v="60" actId="27636"/>
          <ac:spMkLst>
            <pc:docMk/>
            <pc:sldMk cId="21174015" sldId="719"/>
            <ac:spMk id="2" creationId="{083075E4-04BD-0E06-0690-3FAC7DEF0508}"/>
          </ac:spMkLst>
        </pc:spChg>
        <pc:spChg chg="add mod">
          <ac:chgData name="Mahreen Mariyam" userId="598b0c5c15ceddd7" providerId="LiveId" clId="{DA4778E4-3313-4DCE-8A55-DFD9EA8EAF54}" dt="2026-03-26T20:17:32.066" v="79" actId="1036"/>
          <ac:spMkLst>
            <pc:docMk/>
            <pc:sldMk cId="21174015" sldId="719"/>
            <ac:spMk id="3" creationId="{AC0DAE53-188B-D9C4-778F-56205E49E728}"/>
          </ac:spMkLst>
        </pc:spChg>
        <pc:spChg chg="mod">
          <ac:chgData name="Mahreen Mariyam" userId="598b0c5c15ceddd7" providerId="LiveId" clId="{DA4778E4-3313-4DCE-8A55-DFD9EA8EAF54}" dt="2026-03-26T20:15:18.778" v="65" actId="5793"/>
          <ac:spMkLst>
            <pc:docMk/>
            <pc:sldMk cId="21174015" sldId="719"/>
            <ac:spMk id="4" creationId="{EFAEB7D2-5BCF-ACE5-608F-2CC61150E59A}"/>
          </ac:spMkLst>
        </pc:spChg>
        <pc:picChg chg="add mod">
          <ac:chgData name="Mahreen Mariyam" userId="598b0c5c15ceddd7" providerId="LiveId" clId="{DA4778E4-3313-4DCE-8A55-DFD9EA8EAF54}" dt="2026-03-26T20:15:40.330" v="68" actId="1076"/>
          <ac:picMkLst>
            <pc:docMk/>
            <pc:sldMk cId="21174015" sldId="719"/>
            <ac:picMk id="6" creationId="{52E63B41-B484-799B-C899-2BFD62CDBB63}"/>
          </ac:picMkLst>
        </pc:picChg>
      </pc:sldChg>
      <pc:sldChg chg="addSp delSp modSp mod ord">
        <pc:chgData name="Mahreen Mariyam" userId="598b0c5c15ceddd7" providerId="LiveId" clId="{DA4778E4-3313-4DCE-8A55-DFD9EA8EAF54}" dt="2026-03-26T20:11:31.339" v="53" actId="5793"/>
        <pc:sldMkLst>
          <pc:docMk/>
          <pc:sldMk cId="2627351069" sldId="720"/>
        </pc:sldMkLst>
        <pc:spChg chg="mod">
          <ac:chgData name="Mahreen Mariyam" userId="598b0c5c15ceddd7" providerId="LiveId" clId="{DA4778E4-3313-4DCE-8A55-DFD9EA8EAF54}" dt="2026-03-26T20:06:27.076" v="6"/>
          <ac:spMkLst>
            <pc:docMk/>
            <pc:sldMk cId="2627351069" sldId="720"/>
            <ac:spMk id="2" creationId="{7AF25DBA-65C9-12CD-339C-A0DEE5A73974}"/>
          </ac:spMkLst>
        </pc:spChg>
        <pc:spChg chg="add del mod">
          <ac:chgData name="Mahreen Mariyam" userId="598b0c5c15ceddd7" providerId="LiveId" clId="{DA4778E4-3313-4DCE-8A55-DFD9EA8EAF54}" dt="2026-03-26T20:06:55.276" v="8" actId="931"/>
          <ac:spMkLst>
            <pc:docMk/>
            <pc:sldMk cId="2627351069" sldId="720"/>
            <ac:spMk id="3" creationId="{E2784F14-6F7A-96AE-250F-C31293404528}"/>
          </ac:spMkLst>
        </pc:spChg>
        <pc:spChg chg="del">
          <ac:chgData name="Mahreen Mariyam" userId="598b0c5c15ceddd7" providerId="LiveId" clId="{DA4778E4-3313-4DCE-8A55-DFD9EA8EAF54}" dt="2026-03-26T20:06:35.864" v="7" actId="478"/>
          <ac:spMkLst>
            <pc:docMk/>
            <pc:sldMk cId="2627351069" sldId="720"/>
            <ac:spMk id="4" creationId="{D8CBD009-4927-0947-18BF-0AA89E698A1C}"/>
          </ac:spMkLst>
        </pc:spChg>
        <pc:spChg chg="add del mod">
          <ac:chgData name="Mahreen Mariyam" userId="598b0c5c15ceddd7" providerId="LiveId" clId="{DA4778E4-3313-4DCE-8A55-DFD9EA8EAF54}" dt="2026-03-26T20:08:47.302" v="18"/>
          <ac:spMkLst>
            <pc:docMk/>
            <pc:sldMk cId="2627351069" sldId="720"/>
            <ac:spMk id="7" creationId="{07F1C042-1F99-C943-7616-C1F466378D80}"/>
          </ac:spMkLst>
        </pc:spChg>
        <pc:spChg chg="add mod">
          <ac:chgData name="Mahreen Mariyam" userId="598b0c5c15ceddd7" providerId="LiveId" clId="{DA4778E4-3313-4DCE-8A55-DFD9EA8EAF54}" dt="2026-03-26T20:11:31.339" v="53" actId="5793"/>
          <ac:spMkLst>
            <pc:docMk/>
            <pc:sldMk cId="2627351069" sldId="720"/>
            <ac:spMk id="8" creationId="{10C25B9F-1735-11DF-2C1F-43BB7C6EEC15}"/>
          </ac:spMkLst>
        </pc:spChg>
        <pc:picChg chg="add mod ord">
          <ac:chgData name="Mahreen Mariyam" userId="598b0c5c15ceddd7" providerId="LiveId" clId="{DA4778E4-3313-4DCE-8A55-DFD9EA8EAF54}" dt="2026-03-26T20:07:10.609" v="12" actId="1076"/>
          <ac:picMkLst>
            <pc:docMk/>
            <pc:sldMk cId="2627351069" sldId="720"/>
            <ac:picMk id="6" creationId="{4281D6D1-A5A5-D05B-CF17-E074316BC7A4}"/>
          </ac:picMkLst>
        </pc:picChg>
      </pc:sldChg>
      <pc:sldChg chg="addSp delSp modSp add mod ord">
        <pc:chgData name="Mahreen Mariyam" userId="598b0c5c15ceddd7" providerId="LiveId" clId="{DA4778E4-3313-4DCE-8A55-DFD9EA8EAF54}" dt="2026-03-26T20:30:41.903" v="139" actId="14100"/>
        <pc:sldMkLst>
          <pc:docMk/>
          <pc:sldMk cId="3178101998" sldId="721"/>
        </pc:sldMkLst>
        <pc:spChg chg="add mod">
          <ac:chgData name="Mahreen Mariyam" userId="598b0c5c15ceddd7" providerId="LiveId" clId="{DA4778E4-3313-4DCE-8A55-DFD9EA8EAF54}" dt="2026-03-26T20:19:28.224" v="93" actId="255"/>
          <ac:spMkLst>
            <pc:docMk/>
            <pc:sldMk cId="3178101998" sldId="721"/>
            <ac:spMk id="3" creationId="{187663A5-1174-57E1-466F-5669974E73D6}"/>
          </ac:spMkLst>
        </pc:spChg>
        <pc:spChg chg="del">
          <ac:chgData name="Mahreen Mariyam" userId="598b0c5c15ceddd7" providerId="LiveId" clId="{DA4778E4-3313-4DCE-8A55-DFD9EA8EAF54}" dt="2026-03-26T20:18:06.584" v="83" actId="478"/>
          <ac:spMkLst>
            <pc:docMk/>
            <pc:sldMk cId="3178101998" sldId="721"/>
            <ac:spMk id="4" creationId="{F4F26927-910A-9D1F-EE80-0536EE532B59}"/>
          </ac:spMkLst>
        </pc:spChg>
        <pc:spChg chg="add del mod">
          <ac:chgData name="Mahreen Mariyam" userId="598b0c5c15ceddd7" providerId="LiveId" clId="{DA4778E4-3313-4DCE-8A55-DFD9EA8EAF54}" dt="2026-03-26T20:28:19.276" v="103"/>
          <ac:spMkLst>
            <pc:docMk/>
            <pc:sldMk cId="3178101998" sldId="721"/>
            <ac:spMk id="5" creationId="{AA18543C-307B-9FBC-E250-946B93139D66}"/>
          </ac:spMkLst>
        </pc:spChg>
        <pc:spChg chg="add mod">
          <ac:chgData name="Mahreen Mariyam" userId="598b0c5c15ceddd7" providerId="LiveId" clId="{DA4778E4-3313-4DCE-8A55-DFD9EA8EAF54}" dt="2026-03-26T20:30:28.652" v="134" actId="1076"/>
          <ac:spMkLst>
            <pc:docMk/>
            <pc:sldMk cId="3178101998" sldId="721"/>
            <ac:spMk id="6" creationId="{259E3356-8DB0-8D71-F30A-06A4F2651786}"/>
          </ac:spMkLst>
        </pc:spChg>
        <pc:picChg chg="add mod">
          <ac:chgData name="Mahreen Mariyam" userId="598b0c5c15ceddd7" providerId="LiveId" clId="{DA4778E4-3313-4DCE-8A55-DFD9EA8EAF54}" dt="2026-03-26T20:30:37.478" v="137" actId="1076"/>
          <ac:picMkLst>
            <pc:docMk/>
            <pc:sldMk cId="3178101998" sldId="721"/>
            <ac:picMk id="8" creationId="{B9F4B3DF-A363-A12F-F4A3-342B5EA55BA0}"/>
          </ac:picMkLst>
        </pc:picChg>
        <pc:picChg chg="add mod">
          <ac:chgData name="Mahreen Mariyam" userId="598b0c5c15ceddd7" providerId="LiveId" clId="{DA4778E4-3313-4DCE-8A55-DFD9EA8EAF54}" dt="2026-03-26T20:30:41.903" v="139" actId="14100"/>
          <ac:picMkLst>
            <pc:docMk/>
            <pc:sldMk cId="3178101998" sldId="721"/>
            <ac:picMk id="10" creationId="{1DCB9668-6036-4569-0E89-D20E66C4D37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27-03-2026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15</a:t>
            </a:fld>
            <a:endParaRPr lang="en-IN" dirty="0"/>
          </a:p>
        </p:txBody>
      </p:sp>
    </p:spTree>
    <p:extLst>
      <p:ext uri="{BB962C8B-B14F-4D97-AF65-F5344CB8AC3E}">
        <p14:creationId xmlns:p14="http://schemas.microsoft.com/office/powerpoint/2010/main" val="17978836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latin typeface="Calibri" panose="020F0502020204030204" pitchFamily="34" charset="0"/>
              </a:rPr>
              <a:t>Name of Capstone Project : </a:t>
            </a:r>
          </a:p>
          <a:p>
            <a:pPr algn="ctr"/>
            <a:r>
              <a:rPr lang="en-IN" sz="4400" dirty="0"/>
              <a:t>AI-Driven Financial Fraud Detection</a:t>
            </a:r>
            <a:endParaRPr lang="en-US" sz="4400" b="1" dirty="0">
              <a:latin typeface="Calibri" panose="020F0502020204030204" pitchFamily="34" charset="0"/>
            </a:endParaRPr>
          </a:p>
        </p:txBody>
      </p:sp>
      <p:graphicFrame>
        <p:nvGraphicFramePr>
          <p:cNvPr id="3" name="Table 2">
            <a:extLst>
              <a:ext uri="{FF2B5EF4-FFF2-40B4-BE49-F238E27FC236}">
                <a16:creationId xmlns:a16="http://schemas.microsoft.com/office/drawing/2014/main" id="{65E31BA5-9C50-EE15-2CD9-14FD2BE146F2}"/>
              </a:ext>
            </a:extLst>
          </p:cNvPr>
          <p:cNvGraphicFramePr>
            <a:graphicFrameLocks noGrp="1"/>
          </p:cNvGraphicFramePr>
          <p:nvPr>
            <p:extLst>
              <p:ext uri="{D42A27DB-BD31-4B8C-83A1-F6EECF244321}">
                <p14:modId xmlns:p14="http://schemas.microsoft.com/office/powerpoint/2010/main" val="2620539690"/>
              </p:ext>
            </p:extLst>
          </p:nvPr>
        </p:nvGraphicFramePr>
        <p:xfrm>
          <a:off x="1103244" y="3870370"/>
          <a:ext cx="10386391" cy="562482"/>
        </p:xfrm>
        <a:graphic>
          <a:graphicData uri="http://schemas.openxmlformats.org/drawingml/2006/table">
            <a:tbl>
              <a:tblPr>
                <a:tableStyleId>{073A0DAA-6AF3-43AB-8588-CEC1D06C72B9}</a:tableStyleId>
              </a:tblPr>
              <a:tblGrid>
                <a:gridCol w="10386391">
                  <a:extLst>
                    <a:ext uri="{9D8B030D-6E8A-4147-A177-3AD203B41FA5}">
                      <a16:colId xmlns:a16="http://schemas.microsoft.com/office/drawing/2014/main" val="2022293409"/>
                    </a:ext>
                  </a:extLst>
                </a:gridCol>
              </a:tblGrid>
              <a:tr h="562482">
                <a:tc>
                  <a:txBody>
                    <a:bodyPr/>
                    <a:lstStyle/>
                    <a:p>
                      <a:r>
                        <a:rPr lang="en-US" sz="2800" b="0" cap="none" spc="0" dirty="0">
                          <a:ln w="0">
                            <a:solidFill>
                              <a:schemeClr val="bg1"/>
                            </a:solidFill>
                          </a:ln>
                          <a:solidFill>
                            <a:schemeClr val="bg1"/>
                          </a:solidFill>
                          <a:effectLst>
                            <a:outerShdw blurRad="38100" dist="19050" dir="2700000" algn="tl" rotWithShape="0">
                              <a:schemeClr val="dk1">
                                <a:alpha val="40000"/>
                              </a:schemeClr>
                            </a:outerShdw>
                          </a:effectLst>
                        </a:rPr>
                        <a:t>Subtitle: Leveraging Machine Learning to Secure Digital Transactions</a:t>
                      </a:r>
                      <a:endParaRPr lang="en-IN" sz="2800" b="0" cap="none" spc="0" dirty="0">
                        <a:ln w="0">
                          <a:solidFill>
                            <a:schemeClr val="bg1"/>
                          </a:solidFill>
                        </a:ln>
                        <a:solidFill>
                          <a:schemeClr val="bg1"/>
                        </a:solidFill>
                        <a:effectLst>
                          <a:outerShdw blurRad="38100" dist="19050" dir="2700000" algn="tl" rotWithShape="0">
                            <a:schemeClr val="dk1">
                              <a:alpha val="40000"/>
                            </a:schemeClr>
                          </a:outerShdw>
                        </a:effectLst>
                      </a:endParaRPr>
                    </a:p>
                  </a:txBody>
                  <a:tcPr>
                    <a:noFill/>
                  </a:tcPr>
                </a:tc>
                <a:extLst>
                  <a:ext uri="{0D108BD9-81ED-4DB2-BD59-A6C34878D82A}">
                    <a16:rowId xmlns:a16="http://schemas.microsoft.com/office/drawing/2014/main" val="2831197388"/>
                  </a:ext>
                </a:extLst>
              </a:tr>
            </a:tbl>
          </a:graphicData>
        </a:graphic>
      </p:graphicFrame>
      <p:graphicFrame>
        <p:nvGraphicFramePr>
          <p:cNvPr id="4" name="Table 3">
            <a:extLst>
              <a:ext uri="{FF2B5EF4-FFF2-40B4-BE49-F238E27FC236}">
                <a16:creationId xmlns:a16="http://schemas.microsoft.com/office/drawing/2014/main" id="{758C1B72-A3D0-9AE2-F172-4A2EC21C0B4E}"/>
              </a:ext>
            </a:extLst>
          </p:cNvPr>
          <p:cNvGraphicFramePr>
            <a:graphicFrameLocks noGrp="1"/>
          </p:cNvGraphicFramePr>
          <p:nvPr>
            <p:extLst>
              <p:ext uri="{D42A27DB-BD31-4B8C-83A1-F6EECF244321}">
                <p14:modId xmlns:p14="http://schemas.microsoft.com/office/powerpoint/2010/main" val="1566318114"/>
              </p:ext>
            </p:extLst>
          </p:nvPr>
        </p:nvGraphicFramePr>
        <p:xfrm>
          <a:off x="268355" y="6400800"/>
          <a:ext cx="5208105" cy="457200"/>
        </p:xfrm>
        <a:graphic>
          <a:graphicData uri="http://schemas.openxmlformats.org/drawingml/2006/table">
            <a:tbl>
              <a:tblPr>
                <a:tableStyleId>{5C22544A-7EE6-4342-B048-85BDC9FD1C3A}</a:tableStyleId>
              </a:tblPr>
              <a:tblGrid>
                <a:gridCol w="5208105">
                  <a:extLst>
                    <a:ext uri="{9D8B030D-6E8A-4147-A177-3AD203B41FA5}">
                      <a16:colId xmlns:a16="http://schemas.microsoft.com/office/drawing/2014/main" val="1517404140"/>
                    </a:ext>
                  </a:extLst>
                </a:gridCol>
              </a:tblGrid>
              <a:tr h="370840">
                <a:tc>
                  <a:txBody>
                    <a:bodyPr/>
                    <a:lstStyle/>
                    <a:p>
                      <a:r>
                        <a:rPr lang="en-IN" sz="2400" b="1" dirty="0">
                          <a:ln>
                            <a:solidFill>
                              <a:schemeClr val="bg1"/>
                            </a:solidFill>
                          </a:ln>
                          <a:solidFill>
                            <a:schemeClr val="bg1"/>
                          </a:solidFill>
                        </a:rPr>
                        <a:t>Presenter Name:</a:t>
                      </a:r>
                      <a:r>
                        <a:rPr lang="en-IN" sz="2400" dirty="0">
                          <a:ln>
                            <a:solidFill>
                              <a:schemeClr val="bg1"/>
                            </a:solidFill>
                          </a:ln>
                          <a:solidFill>
                            <a:schemeClr val="bg1"/>
                          </a:solidFill>
                        </a:rPr>
                        <a:t> Mariyam Sultana</a:t>
                      </a:r>
                    </a:p>
                  </a:txBody>
                  <a:tcPr>
                    <a:noFill/>
                  </a:tcPr>
                </a:tc>
                <a:extLst>
                  <a:ext uri="{0D108BD9-81ED-4DB2-BD59-A6C34878D82A}">
                    <a16:rowId xmlns:a16="http://schemas.microsoft.com/office/drawing/2014/main" val="879593135"/>
                  </a:ext>
                </a:extLst>
              </a:tr>
            </a:tbl>
          </a:graphicData>
        </a:graphic>
      </p:graphicFrame>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a:xfrm>
            <a:off x="692136" y="480197"/>
            <a:ext cx="10834234" cy="612775"/>
          </a:xfrm>
        </p:spPr>
        <p:txBody>
          <a:bodyPr/>
          <a:lstStyle/>
          <a:p>
            <a:r>
              <a:rPr lang="en-US" dirty="0"/>
              <a:t>Agenda : </a:t>
            </a:r>
            <a:r>
              <a:rPr lang="en-IN" dirty="0"/>
              <a:t>The Business Problem &amp; Objectives</a:t>
            </a:r>
          </a:p>
        </p:txBody>
      </p:sp>
      <p:sp>
        <p:nvSpPr>
          <p:cNvPr id="4" name="Rectangle 1">
            <a:extLst>
              <a:ext uri="{FF2B5EF4-FFF2-40B4-BE49-F238E27FC236}">
                <a16:creationId xmlns:a16="http://schemas.microsoft.com/office/drawing/2014/main" id="{018F9C44-3767-05C6-4B93-DA5E25E06273}"/>
              </a:ext>
            </a:extLst>
          </p:cNvPr>
          <p:cNvSpPr>
            <a:spLocks noGrp="1" noChangeArrowheads="1"/>
          </p:cNvSpPr>
          <p:nvPr>
            <p:ph idx="1"/>
          </p:nvPr>
        </p:nvSpPr>
        <p:spPr bwMode="auto">
          <a:xfrm>
            <a:off x="334328" y="1304486"/>
            <a:ext cx="7785942"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Context:</a:t>
            </a:r>
            <a:r>
              <a:rPr kumimoji="0" lang="en-US" altLang="en-US" sz="1800" b="0" i="0" u="none" strike="noStrike" cap="none" normalizeH="0" baseline="0" dirty="0">
                <a:ln>
                  <a:noFill/>
                </a:ln>
                <a:solidFill>
                  <a:schemeClr val="tx1"/>
                </a:solidFill>
                <a:effectLst/>
                <a:latin typeface="Arial" panose="020B0604020202020204" pitchFamily="34" charset="0"/>
              </a:rPr>
              <a:t> Global digital transactions are surging, but so is sophisticated financial crime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Problem:</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Volume:</a:t>
            </a:r>
            <a:r>
              <a:rPr kumimoji="0" lang="en-US" altLang="en-US" sz="1800" b="0" i="0" u="none" strike="noStrike" cap="none" normalizeH="0" baseline="0" dirty="0">
                <a:ln>
                  <a:noFill/>
                </a:ln>
                <a:solidFill>
                  <a:schemeClr val="tx1"/>
                </a:solidFill>
                <a:effectLst/>
                <a:latin typeface="Arial" panose="020B0604020202020204" pitchFamily="34" charset="0"/>
              </a:rPr>
              <a:t> Millions of transactions per day make manual review impossible.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Imbalance:</a:t>
            </a:r>
            <a:r>
              <a:rPr kumimoji="0" lang="en-US" altLang="en-US" sz="1800" b="0" i="0" u="none" strike="noStrike" cap="none" normalizeH="0" baseline="0" dirty="0">
                <a:ln>
                  <a:noFill/>
                </a:ln>
                <a:solidFill>
                  <a:schemeClr val="tx1"/>
                </a:solidFill>
                <a:effectLst/>
                <a:latin typeface="Arial" panose="020B0604020202020204" pitchFamily="34" charset="0"/>
              </a:rPr>
              <a:t> Fraudulent transactions are "needles in a haystack" (less than </a:t>
            </a:r>
            <a:r>
              <a:rPr kumimoji="0" lang="en-US" altLang="en-US" sz="1800" b="1" i="0" u="none" strike="noStrike" cap="none" normalizeH="0" baseline="0" dirty="0">
                <a:ln>
                  <a:noFill/>
                </a:ln>
                <a:solidFill>
                  <a:schemeClr val="tx1"/>
                </a:solidFill>
                <a:effectLst/>
                <a:latin typeface="Arial" panose="020B0604020202020204" pitchFamily="34" charset="0"/>
              </a:rPr>
              <a:t>0.1%</a:t>
            </a:r>
            <a:r>
              <a:rPr kumimoji="0" lang="en-US" altLang="en-US" sz="1800" b="0" i="0" u="none" strike="noStrike" cap="none" normalizeH="0" baseline="0" dirty="0">
                <a:ln>
                  <a:noFill/>
                </a:ln>
                <a:solidFill>
                  <a:schemeClr val="tx1"/>
                </a:solidFill>
                <a:effectLst/>
                <a:latin typeface="Arial" panose="020B0604020202020204" pitchFamily="34" charset="0"/>
              </a:rPr>
              <a:t> of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Cost:</a:t>
            </a:r>
            <a:r>
              <a:rPr kumimoji="0" lang="en-US" altLang="en-US" sz="1800" b="0" i="0" u="none" strike="noStrike" cap="none" normalizeH="0" baseline="0" dirty="0">
                <a:ln>
                  <a:noFill/>
                </a:ln>
                <a:solidFill>
                  <a:schemeClr val="tx1"/>
                </a:solidFill>
                <a:effectLst/>
                <a:latin typeface="Arial" panose="020B0604020202020204" pitchFamily="34" charset="0"/>
              </a:rPr>
              <a:t> Every undetected fraud leads to direct financial loss and diminished customer trust.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Our Project Objectives: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Detect:</a:t>
            </a:r>
            <a:r>
              <a:rPr kumimoji="0" lang="en-US" altLang="en-US" sz="1800" b="0" i="0" u="none" strike="noStrike" cap="none" normalizeH="0" baseline="0" dirty="0">
                <a:ln>
                  <a:noFill/>
                </a:ln>
                <a:solidFill>
                  <a:schemeClr val="tx1"/>
                </a:solidFill>
                <a:effectLst/>
                <a:latin typeface="Arial" panose="020B0604020202020204" pitchFamily="34" charset="0"/>
              </a:rPr>
              <a:t> Identify high-risk transactions in real-time.</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Arial" panose="020B0604020202020204" pitchFamily="34" charset="0"/>
              </a:rPr>
              <a:t>Minimize:</a:t>
            </a:r>
            <a:r>
              <a:rPr kumimoji="0" lang="en-US" altLang="en-US" sz="1800" b="0" i="0" u="none" strike="noStrike" cap="none" normalizeH="0" baseline="0" dirty="0">
                <a:ln>
                  <a:noFill/>
                </a:ln>
                <a:solidFill>
                  <a:schemeClr val="tx1"/>
                </a:solidFill>
                <a:effectLst/>
                <a:latin typeface="Arial" panose="020B0604020202020204" pitchFamily="34" charset="0"/>
              </a:rPr>
              <a:t> Reduce "False Positives" to avoid blocking legitimate customer payments.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dirty="0">
                <a:ln>
                  <a:noFill/>
                </a:ln>
                <a:solidFill>
                  <a:schemeClr val="tx1"/>
                </a:solidFill>
                <a:effectLst/>
                <a:latin typeface="Arial" panose="020B0604020202020204" pitchFamily="34" charset="0"/>
              </a:rPr>
              <a:t>Scale:</a:t>
            </a:r>
            <a:r>
              <a:rPr kumimoji="0" lang="en-US" altLang="en-US" sz="1800" b="0" i="0" u="none" strike="noStrike" cap="none" normalizeH="0" baseline="0" dirty="0">
                <a:ln>
                  <a:noFill/>
                </a:ln>
                <a:solidFill>
                  <a:schemeClr val="tx1"/>
                </a:solidFill>
                <a:effectLst/>
                <a:latin typeface="Arial" panose="020B0604020202020204" pitchFamily="34" charset="0"/>
              </a:rPr>
              <a:t> Create a "Production-Ready" model that can be deployed into any banking system.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3C2F80C6-617A-EC87-0327-FE6F97239D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13190" y="215524"/>
            <a:ext cx="2934369" cy="2972477"/>
          </a:xfrm>
          <a:prstGeom prst="rect">
            <a:avLst/>
          </a:prstGeom>
        </p:spPr>
      </p:pic>
      <p:pic>
        <p:nvPicPr>
          <p:cNvPr id="8" name="Picture 7">
            <a:extLst>
              <a:ext uri="{FF2B5EF4-FFF2-40B4-BE49-F238E27FC236}">
                <a16:creationId xmlns:a16="http://schemas.microsoft.com/office/drawing/2014/main" id="{5444604B-4F9B-D3C9-E119-2F329C259923}"/>
              </a:ext>
            </a:extLst>
          </p:cNvPr>
          <p:cNvPicPr>
            <a:picLocks noChangeAspect="1"/>
          </p:cNvPicPr>
          <p:nvPr/>
        </p:nvPicPr>
        <p:blipFill>
          <a:blip r:embed="rId3">
            <a:extLst>
              <a:ext uri="{28A0092B-C50C-407E-A947-70E740481C1C}">
                <a14:useLocalDpi xmlns:a14="http://schemas.microsoft.com/office/drawing/2010/main" val="0"/>
              </a:ext>
            </a:extLst>
          </a:blip>
          <a:srcRect l="-838" t="757" r="676" b="15282"/>
          <a:stretch>
            <a:fillRect/>
          </a:stretch>
        </p:blipFill>
        <p:spPr>
          <a:xfrm>
            <a:off x="8130498" y="3188001"/>
            <a:ext cx="3727174" cy="2365513"/>
          </a:xfrm>
          <a:prstGeom prst="rect">
            <a:avLst/>
          </a:prstGeom>
        </p:spPr>
      </p:pic>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IN" dirty="0"/>
              <a:t>Data Overview &amp; Exploration (EDA)</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302026"/>
            <a:ext cx="5417116" cy="4771115"/>
          </a:xfrm>
          <a:prstGeom prst="rect">
            <a:avLst/>
          </a:prstGeom>
        </p:spPr>
        <p:txBody>
          <a:bodyPr>
            <a:normAutofit fontScale="92500" lnSpcReduction="10000"/>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r>
              <a:rPr lang="en-US" b="1" dirty="0"/>
              <a:t>Dataset Profile:</a:t>
            </a:r>
            <a:r>
              <a:rPr lang="en-US" dirty="0"/>
              <a:t> 6+ million transactions with features including amount, </a:t>
            </a:r>
            <a:r>
              <a:rPr lang="en-US" dirty="0" err="1"/>
              <a:t>oldbalance</a:t>
            </a:r>
            <a:r>
              <a:rPr lang="en-US" dirty="0"/>
              <a:t>, and </a:t>
            </a:r>
            <a:r>
              <a:rPr lang="en-US" dirty="0" err="1"/>
              <a:t>newbalance</a:t>
            </a:r>
            <a:r>
              <a:rPr lang="en-US" dirty="0"/>
              <a:t>.</a:t>
            </a:r>
          </a:p>
          <a:p>
            <a:r>
              <a:rPr lang="en-US" b="1" dirty="0"/>
              <a:t>The "Fraud Signature":</a:t>
            </a:r>
            <a:endParaRPr lang="en-US" dirty="0"/>
          </a:p>
          <a:p>
            <a:pPr lvl="1"/>
            <a:r>
              <a:rPr lang="en-US" dirty="0"/>
              <a:t>Fraud is exclusively found in </a:t>
            </a:r>
            <a:r>
              <a:rPr lang="en-US" b="1" dirty="0"/>
              <a:t>TRANSFER</a:t>
            </a:r>
            <a:r>
              <a:rPr lang="en-US" dirty="0"/>
              <a:t> and </a:t>
            </a:r>
            <a:r>
              <a:rPr lang="en-US" b="1" dirty="0"/>
              <a:t>CASH_OUT</a:t>
            </a:r>
            <a:r>
              <a:rPr lang="en-US" dirty="0"/>
              <a:t> transaction types.</a:t>
            </a:r>
          </a:p>
          <a:p>
            <a:pPr lvl="1"/>
            <a:r>
              <a:rPr lang="en-US" dirty="0"/>
              <a:t>Other types like PAYMENT or DEBIT showed zero fraudulent activity in this sample.</a:t>
            </a:r>
          </a:p>
          <a:p>
            <a:r>
              <a:rPr lang="en-US" b="1" dirty="0"/>
              <a:t>Key Discovery:</a:t>
            </a:r>
            <a:r>
              <a:rPr lang="en-US" dirty="0"/>
              <a:t> Fraudulent transactions often result in the sender's account being completely emptied (</a:t>
            </a:r>
            <a:r>
              <a:rPr lang="en-US" dirty="0" err="1"/>
              <a:t>newbalanceOrig</a:t>
            </a:r>
            <a:r>
              <a:rPr lang="en-US" dirty="0"/>
              <a:t> = 0).</a:t>
            </a:r>
          </a:p>
          <a:p>
            <a:pPr lvl="0"/>
            <a:endParaRPr lang="en-US" dirty="0"/>
          </a:p>
        </p:txBody>
      </p:sp>
      <p:pic>
        <p:nvPicPr>
          <p:cNvPr id="2050" name="Picture 2">
            <a:extLst>
              <a:ext uri="{FF2B5EF4-FFF2-40B4-BE49-F238E27FC236}">
                <a16:creationId xmlns:a16="http://schemas.microsoft.com/office/drawing/2014/main" id="{655BFBFB-8CEC-B41D-7FD4-72FF89F2F5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6669" y="1216441"/>
            <a:ext cx="5999579" cy="4627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750E1-6238-3FBF-6219-7793219EDA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74611C-3675-FB5E-F57B-83A2F491010E}"/>
              </a:ext>
            </a:extLst>
          </p:cNvPr>
          <p:cNvSpPr>
            <a:spLocks noGrp="1"/>
          </p:cNvSpPr>
          <p:nvPr>
            <p:ph type="title"/>
          </p:nvPr>
        </p:nvSpPr>
        <p:spPr>
          <a:xfrm>
            <a:off x="589432" y="172084"/>
            <a:ext cx="10834234" cy="612775"/>
          </a:xfrm>
        </p:spPr>
        <p:txBody>
          <a:bodyPr/>
          <a:lstStyle/>
          <a:p>
            <a:r>
              <a:rPr lang="en-IN" dirty="0"/>
              <a:t>Feature Engineering &amp; Preprocessing</a:t>
            </a:r>
          </a:p>
        </p:txBody>
      </p:sp>
      <p:sp>
        <p:nvSpPr>
          <p:cNvPr id="3" name="Rectangle 1">
            <a:extLst>
              <a:ext uri="{FF2B5EF4-FFF2-40B4-BE49-F238E27FC236}">
                <a16:creationId xmlns:a16="http://schemas.microsoft.com/office/drawing/2014/main" id="{FA69A6B5-A850-0562-1DE7-693DD96D93B5}"/>
              </a:ext>
            </a:extLst>
          </p:cNvPr>
          <p:cNvSpPr>
            <a:spLocks noGrp="1" noChangeArrowheads="1"/>
          </p:cNvSpPr>
          <p:nvPr>
            <p:ph idx="1"/>
          </p:nvPr>
        </p:nvSpPr>
        <p:spPr bwMode="auto">
          <a:xfrm>
            <a:off x="321642" y="1133810"/>
            <a:ext cx="1138665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Feature Engineering:</a:t>
            </a:r>
            <a:r>
              <a:rPr kumimoji="0" lang="en-US" altLang="en-US" sz="2000" b="0" i="0" u="none" strike="noStrike" cap="none" normalizeH="0" baseline="0" dirty="0">
                <a:ln>
                  <a:noFill/>
                </a:ln>
                <a:solidFill>
                  <a:schemeClr val="tx1"/>
                </a:solidFill>
                <a:effectLst/>
                <a:latin typeface="Arial" panose="020B0604020202020204" pitchFamily="34" charset="0"/>
              </a:rPr>
              <a:t> * Created </a:t>
            </a:r>
            <a:r>
              <a:rPr kumimoji="0" lang="en-US" altLang="en-US" sz="2000" b="0" i="0" u="none" strike="noStrike" cap="none" normalizeH="0" baseline="0" dirty="0" err="1">
                <a:ln>
                  <a:noFill/>
                </a:ln>
                <a:solidFill>
                  <a:schemeClr val="tx1"/>
                </a:solidFill>
                <a:effectLst/>
                <a:latin typeface="Arial Unicode MS"/>
              </a:rPr>
              <a:t>diff_Orig</a:t>
            </a:r>
            <a:r>
              <a:rPr kumimoji="0" lang="en-US" altLang="en-US" sz="2000" b="0" i="0" u="none" strike="noStrike" cap="none" normalizeH="0" baseline="0" dirty="0">
                <a:ln>
                  <a:noFill/>
                </a:ln>
                <a:solidFill>
                  <a:schemeClr val="tx1"/>
                </a:solidFill>
                <a:effectLst/>
              </a:rPr>
              <a:t> and </a:t>
            </a:r>
            <a:r>
              <a:rPr kumimoji="0" lang="en-US" altLang="en-US" sz="2000" b="0" i="0" u="none" strike="noStrike" cap="none" normalizeH="0" baseline="0" dirty="0" err="1">
                <a:ln>
                  <a:noFill/>
                </a:ln>
                <a:solidFill>
                  <a:schemeClr val="tx1"/>
                </a:solidFill>
                <a:effectLst/>
                <a:latin typeface="Arial Unicode MS"/>
              </a:rPr>
              <a:t>diff_Dest</a:t>
            </a:r>
            <a:r>
              <a:rPr kumimoji="0" lang="en-US" altLang="en-US" sz="2000" b="0" i="0" u="none" strike="noStrike" cap="none" normalizeH="0" baseline="0" dirty="0">
                <a:ln>
                  <a:noFill/>
                </a:ln>
                <a:solidFill>
                  <a:schemeClr val="tx1"/>
                </a:solidFill>
                <a:effectLst/>
              </a:rPr>
              <a:t> columns to calculate the exact change in account balances.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en-US" altLang="en-US" sz="2000" b="1" i="0" u="none" strike="noStrike" cap="none" normalizeH="0" baseline="0" dirty="0">
                <a:ln>
                  <a:noFill/>
                </a:ln>
                <a:solidFill>
                  <a:schemeClr val="tx1"/>
                </a:solidFill>
                <a:effectLst/>
                <a:latin typeface="Arial" panose="020B0604020202020204" pitchFamily="34" charset="0"/>
              </a:rPr>
              <a:t>      - Insight:</a:t>
            </a:r>
            <a:r>
              <a:rPr kumimoji="0" lang="en-US" altLang="en-US" sz="2000" b="0" i="0" u="none" strike="noStrike" cap="none" normalizeH="0" baseline="0" dirty="0">
                <a:ln>
                  <a:noFill/>
                </a:ln>
                <a:solidFill>
                  <a:schemeClr val="tx1"/>
                </a:solidFill>
                <a:effectLst/>
                <a:latin typeface="Arial" panose="020B0604020202020204" pitchFamily="34" charset="0"/>
              </a:rPr>
              <a:t> A sudden drop to zero in the origin account is a primary "red flag" for fraud</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Data Cleaning:</a:t>
            </a:r>
            <a:r>
              <a:rPr kumimoji="0" lang="en-US" altLang="en-US" sz="2000" b="0" i="0" u="none" strike="noStrike" cap="none" normalizeH="0" baseline="0" dirty="0">
                <a:ln>
                  <a:noFill/>
                </a:ln>
                <a:solidFill>
                  <a:schemeClr val="tx1"/>
                </a:solidFill>
                <a:effectLst/>
                <a:latin typeface="Arial" panose="020B0604020202020204" pitchFamily="34" charset="0"/>
              </a:rPr>
              <a:t> * Dropped non-predictive ID columns (</a:t>
            </a:r>
            <a:r>
              <a:rPr kumimoji="0" lang="en-US" altLang="en-US" sz="2000" b="0" i="0" u="none" strike="noStrike" cap="none" normalizeH="0" baseline="0" dirty="0" err="1">
                <a:ln>
                  <a:noFill/>
                </a:ln>
                <a:solidFill>
                  <a:schemeClr val="tx1"/>
                </a:solidFill>
                <a:effectLst/>
                <a:latin typeface="Arial Unicode MS"/>
              </a:rPr>
              <a:t>nameOrig</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latin typeface="Arial Unicode MS"/>
              </a:rPr>
              <a:t>nameDest</a:t>
            </a:r>
            <a:r>
              <a:rPr kumimoji="0" lang="en-US" altLang="en-US" sz="2000" b="0" i="0" u="none" strike="noStrike" cap="none" normalizeH="0" baseline="0" dirty="0">
                <a:ln>
                  <a:noFill/>
                </a:ln>
                <a:solidFill>
                  <a:schemeClr val="tx1"/>
                </a:solidFill>
                <a:effectLst/>
              </a:rPr>
              <a:t>) to prevent the model from "memorizing" specific accounts.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Addressing Imbalance:</a:t>
            </a:r>
            <a:endParaRPr lang="en-US" altLang="en-US" sz="20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        - Used </a:t>
            </a:r>
            <a:r>
              <a:rPr kumimoji="0" lang="en-US" altLang="en-US" sz="2000" b="1" i="0" u="none" strike="noStrike" cap="none" normalizeH="0" baseline="0" dirty="0">
                <a:ln>
                  <a:noFill/>
                </a:ln>
                <a:solidFill>
                  <a:schemeClr val="tx1"/>
                </a:solidFill>
                <a:effectLst/>
                <a:latin typeface="Arial" panose="020B0604020202020204" pitchFamily="34" charset="0"/>
              </a:rPr>
              <a:t>One-Hot Encoding</a:t>
            </a:r>
            <a:r>
              <a:rPr kumimoji="0" lang="en-US" altLang="en-US" sz="2000" b="0" i="0" u="none" strike="noStrike" cap="none" normalizeH="0" baseline="0" dirty="0">
                <a:ln>
                  <a:noFill/>
                </a:ln>
                <a:solidFill>
                  <a:schemeClr val="tx1"/>
                </a:solidFill>
                <a:effectLst/>
                <a:latin typeface="Arial" panose="020B0604020202020204" pitchFamily="34" charset="0"/>
              </a:rPr>
              <a:t> for transaction types.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        - Applied </a:t>
            </a:r>
            <a:r>
              <a:rPr kumimoji="0" lang="en-US" altLang="en-US" sz="2000" b="1" i="0" u="none" strike="noStrike" cap="none" normalizeH="0" baseline="0" dirty="0">
                <a:ln>
                  <a:noFill/>
                </a:ln>
                <a:solidFill>
                  <a:schemeClr val="tx1"/>
                </a:solidFill>
                <a:effectLst/>
                <a:latin typeface="Arial" panose="020B0604020202020204" pitchFamily="34" charset="0"/>
              </a:rPr>
              <a:t>Standard Scaling</a:t>
            </a:r>
            <a:r>
              <a:rPr kumimoji="0" lang="en-US" altLang="en-US" sz="2000" b="0" i="0" u="none" strike="noStrike" cap="none" normalizeH="0" baseline="0" dirty="0">
                <a:ln>
                  <a:noFill/>
                </a:ln>
                <a:solidFill>
                  <a:schemeClr val="tx1"/>
                </a:solidFill>
                <a:effectLst/>
                <a:latin typeface="Arial" panose="020B0604020202020204" pitchFamily="34" charset="0"/>
              </a:rPr>
              <a:t> to ensure </a:t>
            </a:r>
            <a:r>
              <a:rPr kumimoji="0" lang="en-US" altLang="en-US" sz="2000" b="0" i="0" u="none" strike="noStrike" cap="none" normalizeH="0" baseline="0" dirty="0">
                <a:ln>
                  <a:noFill/>
                </a:ln>
                <a:solidFill>
                  <a:schemeClr val="tx1"/>
                </a:solidFill>
                <a:effectLst/>
                <a:latin typeface="Arial Unicode MS"/>
              </a:rPr>
              <a:t>amount</a:t>
            </a:r>
            <a:r>
              <a:rPr kumimoji="0" lang="en-US" altLang="en-US" sz="2000" b="0" i="0" u="none" strike="noStrike" cap="none" normalizeH="0" baseline="0" dirty="0">
                <a:ln>
                  <a:noFill/>
                </a:ln>
                <a:solidFill>
                  <a:schemeClr val="tx1"/>
                </a:solidFill>
                <a:effectLst/>
              </a:rPr>
              <a:t> and </a:t>
            </a:r>
            <a:r>
              <a:rPr kumimoji="0" lang="en-US" altLang="en-US" sz="2000" b="0" i="0" u="none" strike="noStrike" cap="none" normalizeH="0" baseline="0" dirty="0">
                <a:ln>
                  <a:noFill/>
                </a:ln>
                <a:solidFill>
                  <a:schemeClr val="tx1"/>
                </a:solidFill>
                <a:effectLst/>
                <a:latin typeface="Arial Unicode MS"/>
              </a:rPr>
              <a:t>balance</a:t>
            </a:r>
            <a:r>
              <a:rPr kumimoji="0" lang="en-US" altLang="en-US" sz="2000" b="0" i="0" u="none" strike="noStrike" cap="none" normalizeH="0" baseline="0" dirty="0">
                <a:ln>
                  <a:noFill/>
                </a:ln>
                <a:solidFill>
                  <a:schemeClr val="tx1"/>
                </a:solidFill>
                <a:effectLst/>
              </a:rPr>
              <a:t> are treated with equal mathematical weight.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Strategic Split:</a:t>
            </a:r>
            <a:r>
              <a:rPr kumimoji="0" lang="en-US" altLang="en-US" sz="2000" b="0" i="0" u="none" strike="noStrike" cap="none" normalizeH="0" baseline="0" dirty="0">
                <a:ln>
                  <a:noFill/>
                </a:ln>
                <a:solidFill>
                  <a:schemeClr val="tx1"/>
                </a:solidFill>
                <a:effectLst/>
                <a:latin typeface="Arial" panose="020B0604020202020204" pitchFamily="34" charset="0"/>
              </a:rPr>
              <a:t> 80% Training / 20% Testing with </a:t>
            </a:r>
            <a:r>
              <a:rPr kumimoji="0" lang="en-US" altLang="en-US" sz="2000" b="1" i="0" u="none" strike="noStrike" cap="none" normalizeH="0" baseline="0" dirty="0">
                <a:ln>
                  <a:noFill/>
                </a:ln>
                <a:solidFill>
                  <a:schemeClr val="tx1"/>
                </a:solidFill>
                <a:effectLst/>
                <a:latin typeface="Arial" panose="020B0604020202020204" pitchFamily="34" charset="0"/>
              </a:rPr>
              <a:t>Stratified Sampling</a:t>
            </a:r>
            <a:r>
              <a:rPr kumimoji="0" lang="en-US" altLang="en-US" sz="2000" b="0" i="0" u="none" strike="noStrike" cap="none" normalizeH="0" baseline="0" dirty="0">
                <a:ln>
                  <a:noFill/>
                </a:ln>
                <a:solidFill>
                  <a:schemeClr val="tx1"/>
                </a:solidFill>
                <a:effectLst/>
                <a:latin typeface="Arial" panose="020B0604020202020204" pitchFamily="34" charset="0"/>
              </a:rPr>
              <a:t> to ensure fraud cases are present in both sets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863783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76A47-1F37-B268-B054-71D90B764E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B38CA-77A0-91FF-EADD-273FCB17F151}"/>
              </a:ext>
            </a:extLst>
          </p:cNvPr>
          <p:cNvSpPr>
            <a:spLocks noGrp="1"/>
          </p:cNvSpPr>
          <p:nvPr>
            <p:ph type="title"/>
          </p:nvPr>
        </p:nvSpPr>
        <p:spPr>
          <a:xfrm>
            <a:off x="678883" y="430502"/>
            <a:ext cx="10834234" cy="612775"/>
          </a:xfrm>
        </p:spPr>
        <p:txBody>
          <a:bodyPr/>
          <a:lstStyle/>
          <a:p>
            <a:r>
              <a:rPr lang="en-IN" dirty="0"/>
              <a:t>Model Selection &amp; Training</a:t>
            </a:r>
          </a:p>
        </p:txBody>
      </p:sp>
      <p:sp>
        <p:nvSpPr>
          <p:cNvPr id="5" name="Rectangle 2">
            <a:extLst>
              <a:ext uri="{FF2B5EF4-FFF2-40B4-BE49-F238E27FC236}">
                <a16:creationId xmlns:a16="http://schemas.microsoft.com/office/drawing/2014/main" id="{4B265341-9C94-24E5-EFAF-6141D95AFB49}"/>
              </a:ext>
            </a:extLst>
          </p:cNvPr>
          <p:cNvSpPr>
            <a:spLocks noGrp="1" noChangeArrowheads="1"/>
          </p:cNvSpPr>
          <p:nvPr>
            <p:ph idx="1"/>
          </p:nvPr>
        </p:nvSpPr>
        <p:spPr bwMode="auto">
          <a:xfrm>
            <a:off x="457202" y="1492545"/>
            <a:ext cx="11171581"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Algorithm: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Random Forest Classifier</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  </a:t>
            </a:r>
            <a:r>
              <a:rPr kumimoji="0" lang="en-US" altLang="en-US" sz="1800" b="1" i="0" u="none" strike="noStrike" cap="none" normalizeH="0" baseline="0" dirty="0">
                <a:ln>
                  <a:noFill/>
                </a:ln>
                <a:solidFill>
                  <a:schemeClr val="tx1"/>
                </a:solidFill>
                <a:effectLst/>
                <a:latin typeface="Arial" panose="020B0604020202020204" pitchFamily="34" charset="0"/>
              </a:rPr>
              <a:t>Why?</a:t>
            </a:r>
            <a:r>
              <a:rPr kumimoji="0" lang="en-US" altLang="en-US" sz="1800" b="0" i="0" u="none" strike="noStrike" cap="none" normalizeH="0" baseline="0" dirty="0">
                <a:ln>
                  <a:noFill/>
                </a:ln>
                <a:solidFill>
                  <a:schemeClr val="tx1"/>
                </a:solidFill>
                <a:effectLst/>
                <a:latin typeface="Arial" panose="020B0604020202020204" pitchFamily="34" charset="0"/>
              </a:rPr>
              <a:t> It is an "Ensemble" model that combines 100 decision trees to reduce errors and handle  complex, non-linear financial patterns.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Problem Solver:</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Class Weight Balancing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  Used </a:t>
            </a:r>
            <a:r>
              <a:rPr kumimoji="0" lang="en-US" altLang="en-US" sz="1800" b="0" i="0" u="none" strike="noStrike" cap="none" normalizeH="0" baseline="0" dirty="0" err="1">
                <a:ln>
                  <a:noFill/>
                </a:ln>
                <a:solidFill>
                  <a:schemeClr val="tx1"/>
                </a:solidFill>
                <a:effectLst/>
                <a:latin typeface="Arial Unicode MS"/>
              </a:rPr>
              <a:t>class_weight</a:t>
            </a:r>
            <a:r>
              <a:rPr kumimoji="0" lang="en-US" altLang="en-US" sz="1800" b="0" i="0" u="none" strike="noStrike" cap="none" normalizeH="0" baseline="0" dirty="0">
                <a:ln>
                  <a:noFill/>
                </a:ln>
                <a:solidFill>
                  <a:schemeClr val="tx1"/>
                </a:solidFill>
                <a:effectLst/>
                <a:latin typeface="Arial Unicode MS"/>
              </a:rPr>
              <a:t>='</a:t>
            </a:r>
            <a:r>
              <a:rPr kumimoji="0" lang="en-US" altLang="en-US" sz="1800" b="0" i="0" u="none" strike="noStrike" cap="none" normalizeH="0" baseline="0" dirty="0" err="1">
                <a:ln>
                  <a:noFill/>
                </a:ln>
                <a:solidFill>
                  <a:schemeClr val="tx1"/>
                </a:solidFill>
                <a:effectLst/>
                <a:latin typeface="Arial Unicode MS"/>
              </a:rPr>
              <a:t>balanced_subsample</a:t>
            </a:r>
            <a:r>
              <a:rPr kumimoji="0" lang="en-US" altLang="en-US" sz="1800" b="0" i="0" u="none" strike="noStrike" cap="none" normalizeH="0" baseline="0" dirty="0">
                <a:ln>
                  <a:noFill/>
                </a:ln>
                <a:solidFill>
                  <a:schemeClr val="tx1"/>
                </a:solidFill>
                <a:effectLst/>
                <a:latin typeface="Arial Unicode MS"/>
              </a:rPr>
              <a:t>'</a:t>
            </a:r>
            <a:r>
              <a:rPr kumimoji="0" lang="en-US" altLang="en-US" sz="1800" b="0" i="0" u="none" strike="noStrike" cap="none" normalizeH="0" baseline="0" dirty="0">
                <a:ln>
                  <a:noFill/>
                </a:ln>
                <a:solidFill>
                  <a:schemeClr val="tx1"/>
                </a:solidFill>
                <a:effectLst/>
              </a:rPr>
              <a:t> to force the model to learn specifically from the rare fraud cases.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Training Process: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 Trained on </a:t>
            </a:r>
            <a:r>
              <a:rPr kumimoji="0" lang="en-US" altLang="en-US" sz="1800" b="1" i="0" u="none" strike="noStrike" cap="none" normalizeH="0" baseline="0" dirty="0">
                <a:ln>
                  <a:noFill/>
                </a:ln>
                <a:solidFill>
                  <a:schemeClr val="tx1"/>
                </a:solidFill>
                <a:effectLst/>
                <a:latin typeface="Arial" panose="020B0604020202020204" pitchFamily="34" charset="0"/>
              </a:rPr>
              <a:t>80%</a:t>
            </a:r>
            <a:r>
              <a:rPr kumimoji="0" lang="en-US" altLang="en-US" sz="1800" b="0" i="0" u="none" strike="noStrike" cap="none" normalizeH="0" baseline="0" dirty="0">
                <a:ln>
                  <a:noFill/>
                </a:ln>
                <a:solidFill>
                  <a:schemeClr val="tx1"/>
                </a:solidFill>
                <a:effectLst/>
                <a:latin typeface="Arial" panose="020B0604020202020204" pitchFamily="34" charset="0"/>
              </a:rPr>
              <a:t> of the data.</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 Validated on </a:t>
            </a:r>
            <a:r>
              <a:rPr kumimoji="0" lang="en-US" altLang="en-US" sz="1800" b="1" i="0" u="none" strike="noStrike" cap="none" normalizeH="0" baseline="0" dirty="0">
                <a:ln>
                  <a:noFill/>
                </a:ln>
                <a:solidFill>
                  <a:schemeClr val="tx1"/>
                </a:solidFill>
                <a:effectLst/>
                <a:latin typeface="Arial" panose="020B0604020202020204" pitchFamily="34" charset="0"/>
              </a:rPr>
              <a:t>20%</a:t>
            </a:r>
            <a:r>
              <a:rPr kumimoji="0" lang="en-US" altLang="en-US" sz="1800" b="0" i="0" u="none" strike="noStrike" cap="none" normalizeH="0" baseline="0" dirty="0">
                <a:ln>
                  <a:noFill/>
                </a:ln>
                <a:solidFill>
                  <a:schemeClr val="tx1"/>
                </a:solidFill>
                <a:effectLst/>
                <a:latin typeface="Arial" panose="020B0604020202020204" pitchFamily="34" charset="0"/>
              </a:rPr>
              <a:t> of "unseen" data to ensure real-world reliability.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Performance Metric Goal:</a:t>
            </a:r>
            <a:r>
              <a:rPr kumimoji="0" lang="en-US" altLang="en-US" sz="1800" b="0" i="0" u="none" strike="noStrike" cap="none" normalizeH="0" baseline="0" dirty="0">
                <a:ln>
                  <a:noFill/>
                </a:ln>
                <a:solidFill>
                  <a:schemeClr val="tx1"/>
                </a:solidFill>
                <a:effectLst/>
                <a:latin typeface="Arial" panose="020B0604020202020204" pitchFamily="34" charset="0"/>
              </a:rPr>
              <a:t> Prioritizing </a:t>
            </a:r>
            <a:r>
              <a:rPr kumimoji="0" lang="en-US" altLang="en-US" sz="1800" b="1" i="0" u="none" strike="noStrike" cap="none" normalizeH="0" baseline="0" dirty="0">
                <a:ln>
                  <a:noFill/>
                </a:ln>
                <a:solidFill>
                  <a:schemeClr val="tx1"/>
                </a:solidFill>
                <a:effectLst/>
                <a:latin typeface="Arial" panose="020B0604020202020204" pitchFamily="34" charset="0"/>
              </a:rPr>
              <a:t>Recall</a:t>
            </a:r>
            <a:r>
              <a:rPr kumimoji="0" lang="en-US" altLang="en-US" sz="1800" b="0" i="0" u="none" strike="noStrike" cap="none" normalizeH="0" baseline="0" dirty="0">
                <a:ln>
                  <a:noFill/>
                </a:ln>
                <a:solidFill>
                  <a:schemeClr val="tx1"/>
                </a:solidFill>
                <a:effectLst/>
                <a:latin typeface="Arial" panose="020B0604020202020204" pitchFamily="34" charset="0"/>
              </a:rPr>
              <a:t> over simple Accuracy to ensure no fraud goes undetected.</a:t>
            </a:r>
          </a:p>
        </p:txBody>
      </p:sp>
    </p:spTree>
    <p:extLst>
      <p:ext uri="{BB962C8B-B14F-4D97-AF65-F5344CB8AC3E}">
        <p14:creationId xmlns:p14="http://schemas.microsoft.com/office/powerpoint/2010/main" val="1821368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CB545-32A4-6619-C6C9-106F5FF3BF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4CCB23-CE2B-9136-5687-859B3E5DED88}"/>
              </a:ext>
            </a:extLst>
          </p:cNvPr>
          <p:cNvSpPr>
            <a:spLocks noGrp="1"/>
          </p:cNvSpPr>
          <p:nvPr>
            <p:ph type="title"/>
          </p:nvPr>
        </p:nvSpPr>
        <p:spPr>
          <a:xfrm>
            <a:off x="589432" y="172084"/>
            <a:ext cx="10834234" cy="612775"/>
          </a:xfrm>
        </p:spPr>
        <p:txBody>
          <a:bodyPr/>
          <a:lstStyle/>
          <a:p>
            <a:r>
              <a:rPr lang="en-IN" dirty="0"/>
              <a:t>Performance Metrics &amp; Evaluation</a:t>
            </a:r>
          </a:p>
        </p:txBody>
      </p:sp>
      <p:sp>
        <p:nvSpPr>
          <p:cNvPr id="4" name="Rectangle 1">
            <a:extLst>
              <a:ext uri="{FF2B5EF4-FFF2-40B4-BE49-F238E27FC236}">
                <a16:creationId xmlns:a16="http://schemas.microsoft.com/office/drawing/2014/main" id="{1814B1F8-5872-048F-80F5-F6DFF6C0CDAF}"/>
              </a:ext>
            </a:extLst>
          </p:cNvPr>
          <p:cNvSpPr>
            <a:spLocks noGrp="1" noChangeArrowheads="1"/>
          </p:cNvSpPr>
          <p:nvPr>
            <p:ph idx="1"/>
          </p:nvPr>
        </p:nvSpPr>
        <p:spPr bwMode="auto">
          <a:xfrm>
            <a:off x="501780" y="2159463"/>
            <a:ext cx="1118843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14400" lvl="2"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A61278D9-5CDB-E6A7-F1E7-C70468B464FB}"/>
              </a:ext>
            </a:extLst>
          </p:cNvPr>
          <p:cNvSpPr>
            <a:spLocks noChangeArrowheads="1"/>
          </p:cNvSpPr>
          <p:nvPr/>
        </p:nvSpPr>
        <p:spPr bwMode="auto">
          <a:xfrm>
            <a:off x="407504" y="1050096"/>
            <a:ext cx="621195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Overall Accuracy: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99.9%</a:t>
            </a:r>
            <a:r>
              <a:rPr kumimoji="0" lang="en-US" altLang="en-US" sz="1800" b="0" i="0" u="none" strike="noStrike" cap="none" normalizeH="0" baseline="0" dirty="0">
                <a:ln>
                  <a:noFill/>
                </a:ln>
                <a:solidFill>
                  <a:schemeClr val="tx1"/>
                </a:solidFill>
                <a:effectLst/>
                <a:latin typeface="Arial" panose="020B0604020202020204" pitchFamily="34" charset="0"/>
              </a:rPr>
              <a:t> (But accuracy is misleading in imbalanced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Gold Standard: Recall (96%)</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-This means the model correctly identifies </a:t>
            </a:r>
            <a:r>
              <a:rPr kumimoji="0" lang="en-US" altLang="en-US" sz="1800" b="1" i="0" u="none" strike="noStrike" cap="none" normalizeH="0" baseline="0" dirty="0">
                <a:ln>
                  <a:noFill/>
                </a:ln>
                <a:solidFill>
                  <a:schemeClr val="tx1"/>
                </a:solidFill>
                <a:effectLst/>
                <a:latin typeface="Arial" panose="020B0604020202020204" pitchFamily="34" charset="0"/>
              </a:rPr>
              <a:t>96 out of 100</a:t>
            </a:r>
            <a:r>
              <a:rPr kumimoji="0" lang="en-US" altLang="en-US" sz="1800" b="0" i="0" u="none" strike="noStrike" cap="none" normalizeH="0" baseline="0" dirty="0">
                <a:ln>
                  <a:noFill/>
                </a:ln>
                <a:solidFill>
                  <a:schemeClr val="tx1"/>
                </a:solidFill>
                <a:effectLst/>
                <a:latin typeface="Arial" panose="020B0604020202020204" pitchFamily="34" charset="0"/>
              </a:rPr>
              <a:t> actual fraud cases.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Precision:</a:t>
            </a:r>
            <a:r>
              <a:rPr kumimoji="0" lang="en-US" altLang="en-US" sz="1800" b="0" i="0" u="none" strike="noStrike" cap="none" normalizeH="0" baseline="0" dirty="0">
                <a:ln>
                  <a:noFill/>
                </a:ln>
                <a:solidFill>
                  <a:schemeClr val="tx1"/>
                </a:solidFill>
                <a:effectLst/>
                <a:latin typeface="Arial" panose="020B0604020202020204" pitchFamily="34" charset="0"/>
              </a:rPr>
              <a:t> (Insert your precision, e.g., 85%)</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-High precision ensures we aren't constantly annoying honest customers with false alarms.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ROC-AUC Score:</a:t>
            </a:r>
            <a:r>
              <a:rPr kumimoji="0" lang="en-US" altLang="en-US" sz="1800" b="0" i="0" u="none" strike="noStrike" cap="none" normalizeH="0" baseline="0" dirty="0">
                <a:ln>
                  <a:noFill/>
                </a:ln>
                <a:solidFill>
                  <a:schemeClr val="tx1"/>
                </a:solidFill>
                <a:effectLst/>
                <a:latin typeface="Arial" panose="020B0604020202020204" pitchFamily="34" charset="0"/>
              </a:rPr>
              <a:t> (Insert your score, e.g., 0.99)</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 A near-perfect score indicating the model’s superior ability to distinguish between "Clean" and "Fraud" transactions.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123" name="Picture 3">
            <a:extLst>
              <a:ext uri="{FF2B5EF4-FFF2-40B4-BE49-F238E27FC236}">
                <a16:creationId xmlns:a16="http://schemas.microsoft.com/office/drawing/2014/main" id="{1A1B614E-C9EC-4F04-1588-DD4941FC2E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3243" y="102510"/>
            <a:ext cx="4629325" cy="3461096"/>
          </a:xfrm>
          <a:prstGeom prst="rect">
            <a:avLst/>
          </a:prstGeom>
          <a:noFill/>
          <a:extLst>
            <a:ext uri="{909E8E84-426E-40DD-AFC4-6F175D3DCCD1}">
              <a14:hiddenFill xmlns:a14="http://schemas.microsoft.com/office/drawing/2010/main">
                <a:solidFill>
                  <a:srgbClr val="FFFFFF"/>
                </a:solidFill>
              </a14:hiddenFill>
            </a:ext>
          </a:extLst>
        </p:spPr>
      </p:pic>
      <p:pic>
        <p:nvPicPr>
          <p:cNvPr id="5125" name="Picture 5">
            <a:extLst>
              <a:ext uri="{FF2B5EF4-FFF2-40B4-BE49-F238E27FC236}">
                <a16:creationId xmlns:a16="http://schemas.microsoft.com/office/drawing/2014/main" id="{415E9F2D-08D8-080C-82A3-CB5F31E53D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7817" y="3695359"/>
            <a:ext cx="4896679" cy="3043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3625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09FCF-070E-4EED-CC20-227542B830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F25DBA-65C9-12CD-339C-A0DEE5A73974}"/>
              </a:ext>
            </a:extLst>
          </p:cNvPr>
          <p:cNvSpPr>
            <a:spLocks noGrp="1"/>
          </p:cNvSpPr>
          <p:nvPr>
            <p:ph type="title"/>
          </p:nvPr>
        </p:nvSpPr>
        <p:spPr>
          <a:xfrm>
            <a:off x="589432" y="172084"/>
            <a:ext cx="10834234" cy="612775"/>
          </a:xfrm>
        </p:spPr>
        <p:txBody>
          <a:bodyPr/>
          <a:lstStyle/>
          <a:p>
            <a:r>
              <a:rPr lang="en-IN" dirty="0"/>
              <a:t>Real-Time Business Intelligence Dashboard</a:t>
            </a:r>
          </a:p>
        </p:txBody>
      </p:sp>
      <p:pic>
        <p:nvPicPr>
          <p:cNvPr id="6" name="Content Placeholder 5">
            <a:extLst>
              <a:ext uri="{FF2B5EF4-FFF2-40B4-BE49-F238E27FC236}">
                <a16:creationId xmlns:a16="http://schemas.microsoft.com/office/drawing/2014/main" id="{4281D6D1-A5A5-D05B-CF17-E074316BC7A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9966" y="789994"/>
            <a:ext cx="7383166" cy="5278011"/>
          </a:xfrm>
          <a:prstGeom prst="rect">
            <a:avLst/>
          </a:prstGeom>
        </p:spPr>
      </p:pic>
      <p:sp>
        <p:nvSpPr>
          <p:cNvPr id="8" name="Rectangle 1">
            <a:extLst>
              <a:ext uri="{FF2B5EF4-FFF2-40B4-BE49-F238E27FC236}">
                <a16:creationId xmlns:a16="http://schemas.microsoft.com/office/drawing/2014/main" id="{10C25B9F-1735-11DF-2C1F-43BB7C6EEC15}"/>
              </a:ext>
            </a:extLst>
          </p:cNvPr>
          <p:cNvSpPr>
            <a:spLocks noChangeArrowheads="1"/>
          </p:cNvSpPr>
          <p:nvPr/>
        </p:nvSpPr>
        <p:spPr bwMode="auto">
          <a:xfrm>
            <a:off x="7822096" y="1688491"/>
            <a:ext cx="4099938"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800100" lvl="1" indent="-342900" eaLnBrk="0" fontAlgn="base" hangingPunct="0">
              <a:spcBef>
                <a:spcPct val="0"/>
              </a:spcBef>
              <a:spcAft>
                <a:spcPct val="0"/>
              </a:spcAft>
              <a:buFont typeface="Arial" panose="020B0604020202020204" pitchFamily="34" charset="0"/>
              <a:buChar char="•"/>
            </a:pPr>
            <a:r>
              <a:rPr kumimoji="0" lang="en-US" altLang="en-US" sz="2000" b="1" i="0" u="none" strike="noStrike" cap="none" normalizeH="0" baseline="0" dirty="0">
                <a:ln>
                  <a:noFill/>
                </a:ln>
                <a:solidFill>
                  <a:schemeClr val="tx1"/>
                </a:solidFill>
                <a:effectLst/>
                <a:latin typeface="Segoe UI Semilight" panose="020B0402040204020203" pitchFamily="34" charset="0"/>
                <a:cs typeface="Segoe UI Semilight" panose="020B0402040204020203" pitchFamily="34" charset="0"/>
              </a:rPr>
              <a:t>Unified</a:t>
            </a:r>
            <a:r>
              <a:rPr kumimoji="0" lang="en-US" altLang="en-US" sz="2000" b="1" i="0" u="none" strike="noStrike" cap="none" normalizeH="0" dirty="0">
                <a:ln>
                  <a:noFill/>
                </a:ln>
                <a:solidFill>
                  <a:schemeClr val="tx1"/>
                </a:solidFill>
                <a:effectLst/>
                <a:latin typeface="Segoe UI Semilight" panose="020B0402040204020203" pitchFamily="34" charset="0"/>
                <a:cs typeface="Segoe UI Semilight" panose="020B0402040204020203" pitchFamily="34" charset="0"/>
              </a:rPr>
              <a:t> </a:t>
            </a:r>
            <a:r>
              <a:rPr kumimoji="0" lang="en-US" altLang="en-US" sz="2000" b="1" i="0" u="none" strike="noStrike" cap="none" normalizeH="0" baseline="0" dirty="0">
                <a:ln>
                  <a:noFill/>
                </a:ln>
                <a:solidFill>
                  <a:schemeClr val="tx1"/>
                </a:solidFill>
                <a:effectLst/>
                <a:latin typeface="Segoe UI Semilight" panose="020B0402040204020203" pitchFamily="34" charset="0"/>
                <a:cs typeface="Segoe UI Semilight" panose="020B0402040204020203" pitchFamily="34" charset="0"/>
              </a:rPr>
              <a:t>Monitoring:</a:t>
            </a:r>
            <a:r>
              <a:rPr kumimoji="0" lang="en-US" altLang="en-US" sz="2000" b="0" i="0" u="none" strike="noStrike" cap="none" normalizeH="0" baseline="0" dirty="0">
                <a:ln>
                  <a:noFill/>
                </a:ln>
                <a:solidFill>
                  <a:schemeClr val="tx1"/>
                </a:solidFill>
                <a:effectLst/>
                <a:latin typeface="Segoe UI Semilight" panose="020B0402040204020203" pitchFamily="34" charset="0"/>
                <a:cs typeface="Segoe UI Semilight" panose="020B0402040204020203" pitchFamily="34" charset="0"/>
              </a:rPr>
              <a:t> Created a single source of truth for all transaction risks.</a:t>
            </a:r>
          </a:p>
          <a:p>
            <a:pPr lvl="1" eaLnBrk="0" fontAlgn="base" hangingPunct="0">
              <a:spcBef>
                <a:spcPct val="0"/>
              </a:spcBef>
              <a:spcAft>
                <a:spcPct val="0"/>
              </a:spcAft>
            </a:pPr>
            <a:endParaRPr kumimoji="0" lang="en-US" altLang="en-US" sz="2000" b="0" i="0" u="none" strike="noStrike" cap="none" normalizeH="0" baseline="0" dirty="0">
              <a:ln>
                <a:noFill/>
              </a:ln>
              <a:solidFill>
                <a:schemeClr val="tx1"/>
              </a:solidFill>
              <a:effectLst/>
              <a:latin typeface="Segoe UI Semilight" panose="020B0402040204020203" pitchFamily="34" charset="0"/>
              <a:cs typeface="Segoe UI Semilight" panose="020B04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Segoe UI Semilight" panose="020B0402040204020203" pitchFamily="34" charset="0"/>
                <a:cs typeface="Segoe UI Semilight" panose="020B0402040204020203" pitchFamily="34" charset="0"/>
              </a:rPr>
              <a:t>Strategic Visibility:</a:t>
            </a:r>
            <a:r>
              <a:rPr kumimoji="0" lang="en-US" altLang="en-US" sz="2000" b="0" i="0" u="none" strike="noStrike" cap="none" normalizeH="0" baseline="0" dirty="0">
                <a:ln>
                  <a:noFill/>
                </a:ln>
                <a:solidFill>
                  <a:schemeClr val="tx1"/>
                </a:solidFill>
                <a:effectLst/>
                <a:latin typeface="Segoe UI Semilight" panose="020B0402040204020203" pitchFamily="34" charset="0"/>
                <a:cs typeface="Segoe UI Semilight" panose="020B0402040204020203" pitchFamily="34" charset="0"/>
              </a:rPr>
              <a:t> Enabled managers to see fraud distribution across TRANSFER and CASH_OUT channels instantly.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Segoe UI Semilight" panose="020B0402040204020203" pitchFamily="34" charset="0"/>
              <a:cs typeface="Segoe UI Semilight" panose="020B04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Segoe UI Semilight" panose="020B0402040204020203" pitchFamily="34" charset="0"/>
                <a:cs typeface="Segoe UI Semilight" panose="020B0402040204020203" pitchFamily="34" charset="0"/>
              </a:rPr>
              <a:t>Interactive Auditing:</a:t>
            </a:r>
            <a:r>
              <a:rPr kumimoji="0" lang="en-US" altLang="en-US" sz="2000" b="0" i="0" u="none" strike="noStrike" cap="none" normalizeH="0" baseline="0" dirty="0">
                <a:ln>
                  <a:noFill/>
                </a:ln>
                <a:solidFill>
                  <a:schemeClr val="tx1"/>
                </a:solidFill>
                <a:effectLst/>
                <a:latin typeface="Segoe UI Semilight" panose="020B0402040204020203" pitchFamily="34" charset="0"/>
                <a:cs typeface="Segoe UI Semilight" panose="020B0402040204020203" pitchFamily="34" charset="0"/>
              </a:rPr>
              <a:t> Built-in slicers allow for deep-dive investigations into specific transaction hours or high-value anomalies.</a:t>
            </a:r>
          </a:p>
        </p:txBody>
      </p:sp>
    </p:spTree>
    <p:extLst>
      <p:ext uri="{BB962C8B-B14F-4D97-AF65-F5344CB8AC3E}">
        <p14:creationId xmlns:p14="http://schemas.microsoft.com/office/powerpoint/2010/main" val="2627351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9F775-A399-0708-A404-FC20D00E1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3075E4-04BD-0E06-0690-3FAC7DEF0508}"/>
              </a:ext>
            </a:extLst>
          </p:cNvPr>
          <p:cNvSpPr>
            <a:spLocks noGrp="1"/>
          </p:cNvSpPr>
          <p:nvPr>
            <p:ph type="title"/>
          </p:nvPr>
        </p:nvSpPr>
        <p:spPr>
          <a:xfrm>
            <a:off x="589432" y="172084"/>
            <a:ext cx="10834234" cy="612775"/>
          </a:xfrm>
        </p:spPr>
        <p:txBody>
          <a:bodyPr>
            <a:normAutofit/>
          </a:bodyPr>
          <a:lstStyle/>
          <a:p>
            <a:r>
              <a:rPr lang="en-IN" dirty="0"/>
              <a:t>Operational Impact &amp; User Experience</a:t>
            </a:r>
          </a:p>
        </p:txBody>
      </p:sp>
      <p:sp>
        <p:nvSpPr>
          <p:cNvPr id="4" name="Rectangle 1">
            <a:extLst>
              <a:ext uri="{FF2B5EF4-FFF2-40B4-BE49-F238E27FC236}">
                <a16:creationId xmlns:a16="http://schemas.microsoft.com/office/drawing/2014/main" id="{EFAEB7D2-5BCF-ACE5-608F-2CC61150E59A}"/>
              </a:ext>
            </a:extLst>
          </p:cNvPr>
          <p:cNvSpPr>
            <a:spLocks noGrp="1" noChangeArrowheads="1"/>
          </p:cNvSpPr>
          <p:nvPr>
            <p:ph idx="1"/>
          </p:nvPr>
        </p:nvSpPr>
        <p:spPr bwMode="auto">
          <a:xfrm>
            <a:off x="501780" y="2159463"/>
            <a:ext cx="1118843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AC0DAE53-188B-D9C4-778F-56205E49E728}"/>
              </a:ext>
            </a:extLst>
          </p:cNvPr>
          <p:cNvSpPr>
            <a:spLocks noChangeArrowheads="1"/>
          </p:cNvSpPr>
          <p:nvPr/>
        </p:nvSpPr>
        <p:spPr bwMode="auto">
          <a:xfrm>
            <a:off x="426340" y="1299040"/>
            <a:ext cx="369735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Prioritization Engine:</a:t>
            </a:r>
            <a:r>
              <a:rPr kumimoji="0" lang="en-US" altLang="en-US" sz="1800" b="0" i="0" u="none" strike="noStrike" cap="none" normalizeH="0" baseline="0" dirty="0">
                <a:ln>
                  <a:noFill/>
                </a:ln>
                <a:solidFill>
                  <a:schemeClr val="tx1"/>
                </a:solidFill>
                <a:effectLst/>
                <a:latin typeface="Arial" panose="020B0604020202020204" pitchFamily="34" charset="0"/>
              </a:rPr>
              <a:t> Used conditional formatting to "heat map" the most dangerous transactions for manual review.</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Reduced Manual Toil:</a:t>
            </a:r>
            <a:r>
              <a:rPr kumimoji="0" lang="en-US" altLang="en-US" sz="1800" b="0" i="0" u="none" strike="noStrike" cap="none" normalizeH="0" baseline="0" dirty="0">
                <a:ln>
                  <a:noFill/>
                </a:ln>
                <a:solidFill>
                  <a:schemeClr val="tx1"/>
                </a:solidFill>
                <a:effectLst/>
                <a:latin typeface="Arial" panose="020B0604020202020204" pitchFamily="34" charset="0"/>
              </a:rPr>
              <a:t> Automated detection reduces the need for large audit teams, focusing human effort only on "High-Risk" alerts.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Financial Clarity:</a:t>
            </a:r>
            <a:r>
              <a:rPr kumimoji="0" lang="en-US" altLang="en-US" sz="1800" b="0" i="0" u="none" strike="noStrike" cap="none" normalizeH="0" baseline="0" dirty="0">
                <a:ln>
                  <a:noFill/>
                </a:ln>
                <a:solidFill>
                  <a:schemeClr val="tx1"/>
                </a:solidFill>
                <a:effectLst/>
                <a:latin typeface="Arial" panose="020B0604020202020204" pitchFamily="34" charset="0"/>
              </a:rPr>
              <a:t> Dashboard instantly calculates the "Total Value at Risk," giving the bank a real-time dollar amount for potential fraud losses.</a:t>
            </a:r>
          </a:p>
        </p:txBody>
      </p:sp>
      <p:pic>
        <p:nvPicPr>
          <p:cNvPr id="6" name="Picture 5">
            <a:extLst>
              <a:ext uri="{FF2B5EF4-FFF2-40B4-BE49-F238E27FC236}">
                <a16:creationId xmlns:a16="http://schemas.microsoft.com/office/drawing/2014/main" id="{52E63B41-B484-799B-C899-2BFD62CDBB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7893" y="709172"/>
            <a:ext cx="7267766" cy="5412509"/>
          </a:xfrm>
          <a:prstGeom prst="rect">
            <a:avLst/>
          </a:prstGeom>
        </p:spPr>
      </p:pic>
    </p:spTree>
    <p:extLst>
      <p:ext uri="{BB962C8B-B14F-4D97-AF65-F5344CB8AC3E}">
        <p14:creationId xmlns:p14="http://schemas.microsoft.com/office/powerpoint/2010/main" val="21174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C9D5E-B7A1-7859-E15A-AAF2262F0E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81217B-B778-6FE9-E36B-8EED55907AF5}"/>
              </a:ext>
            </a:extLst>
          </p:cNvPr>
          <p:cNvSpPr>
            <a:spLocks noGrp="1"/>
          </p:cNvSpPr>
          <p:nvPr>
            <p:ph type="title"/>
          </p:nvPr>
        </p:nvSpPr>
        <p:spPr>
          <a:xfrm>
            <a:off x="589432" y="420563"/>
            <a:ext cx="10834234" cy="612775"/>
          </a:xfrm>
        </p:spPr>
        <p:txBody>
          <a:bodyPr/>
          <a:lstStyle/>
          <a:p>
            <a:r>
              <a:rPr lang="en-IN" dirty="0"/>
              <a:t>Financial Impact &amp; Business ROI</a:t>
            </a:r>
          </a:p>
        </p:txBody>
      </p:sp>
      <p:sp>
        <p:nvSpPr>
          <p:cNvPr id="4" name="Rectangle 1">
            <a:extLst>
              <a:ext uri="{FF2B5EF4-FFF2-40B4-BE49-F238E27FC236}">
                <a16:creationId xmlns:a16="http://schemas.microsoft.com/office/drawing/2014/main" id="{5F489251-F7C5-2C02-8111-82388ED1F677}"/>
              </a:ext>
            </a:extLst>
          </p:cNvPr>
          <p:cNvSpPr>
            <a:spLocks noGrp="1" noChangeArrowheads="1"/>
          </p:cNvSpPr>
          <p:nvPr>
            <p:ph idx="1"/>
          </p:nvPr>
        </p:nvSpPr>
        <p:spPr bwMode="auto">
          <a:xfrm>
            <a:off x="501780" y="2236407"/>
            <a:ext cx="11188439"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371600" lvl="3" indent="0" eaLnBrk="0" fontAlgn="base" hangingPunct="0">
              <a:lnSpc>
                <a:spcPct val="100000"/>
              </a:lnSpc>
              <a:spcBef>
                <a:spcPct val="0"/>
              </a:spcBef>
              <a:spcAft>
                <a:spcPct val="0"/>
              </a:spcAft>
              <a:buNone/>
            </a:pP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DA917FA6-D101-21EB-B206-822EDC9FE402}"/>
              </a:ext>
            </a:extLst>
          </p:cNvPr>
          <p:cNvSpPr>
            <a:spLocks noChangeArrowheads="1"/>
          </p:cNvSpPr>
          <p:nvPr/>
        </p:nvSpPr>
        <p:spPr bwMode="auto">
          <a:xfrm>
            <a:off x="501780" y="1309989"/>
            <a:ext cx="1092188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Fraud Prevention (Savings):</a:t>
            </a:r>
            <a:r>
              <a:rPr kumimoji="0" lang="en-US" altLang="en-US" sz="1800" b="0" i="0" u="none" strike="noStrike" cap="none" normalizeH="0" baseline="0" dirty="0">
                <a:ln>
                  <a:noFill/>
                </a:ln>
                <a:solidFill>
                  <a:schemeClr val="tx1"/>
                </a:solidFill>
                <a:effectLst/>
                <a:latin typeface="Arial" panose="020B0604020202020204" pitchFamily="34" charset="0"/>
              </a:rPr>
              <a:t> Correctly identified </a:t>
            </a:r>
            <a:r>
              <a:rPr kumimoji="0" lang="en-US" altLang="en-US" sz="1800" b="1" i="0" u="none" strike="noStrike" cap="none" normalizeH="0" baseline="0" dirty="0">
                <a:ln>
                  <a:noFill/>
                </a:ln>
                <a:solidFill>
                  <a:schemeClr val="tx1"/>
                </a:solidFill>
                <a:effectLst/>
                <a:latin typeface="Arial" panose="020B0604020202020204" pitchFamily="34" charset="0"/>
              </a:rPr>
              <a:t>{ true positive}</a:t>
            </a:r>
            <a:r>
              <a:rPr kumimoji="0" lang="en-US" altLang="en-US" sz="1800" b="0" i="0" u="none" strike="noStrike" cap="none" normalizeH="0" baseline="0" dirty="0">
                <a:ln>
                  <a:noFill/>
                </a:ln>
                <a:solidFill>
                  <a:schemeClr val="tx1"/>
                </a:solidFill>
                <a:effectLst/>
                <a:latin typeface="Arial" panose="020B0604020202020204" pitchFamily="34" charset="0"/>
              </a:rPr>
              <a:t> fraud cases, saving an estimated </a:t>
            </a:r>
            <a:r>
              <a:rPr kumimoji="0" lang="en-US" altLang="en-US" sz="1800" b="1" i="0" u="none" strike="noStrike" cap="none" normalizeH="0" baseline="0" dirty="0">
                <a:ln>
                  <a:noFill/>
                </a:ln>
                <a:solidFill>
                  <a:schemeClr val="tx1"/>
                </a:solidFill>
                <a:effectLst/>
                <a:latin typeface="Arial" panose="020B0604020202020204" pitchFamily="34" charset="0"/>
              </a:rPr>
              <a:t>${</a:t>
            </a:r>
            <a:r>
              <a:rPr lang="en-US" altLang="en-US" b="1" dirty="0">
                <a:latin typeface="Arial" panose="020B0604020202020204" pitchFamily="34" charset="0"/>
              </a:rPr>
              <a:t>true positive</a:t>
            </a:r>
            <a:r>
              <a:rPr kumimoji="0" lang="en-US" altLang="en-US" sz="1800" b="1" i="0" u="none" strike="noStrike" cap="none" normalizeH="0" baseline="0" dirty="0">
                <a:ln>
                  <a:noFill/>
                </a:ln>
                <a:solidFill>
                  <a:schemeClr val="tx1"/>
                </a:solidFill>
                <a:effectLst/>
                <a:latin typeface="Arial" panose="020B0604020202020204" pitchFamily="34" charset="0"/>
              </a:rPr>
              <a:t> * 1000:,}</a:t>
            </a:r>
            <a:r>
              <a:rPr kumimoji="0" lang="en-US" altLang="en-US" sz="1800" b="0" i="0" u="none" strike="noStrike" cap="none" normalizeH="0" baseline="0" dirty="0">
                <a:ln>
                  <a:noFill/>
                </a:ln>
                <a:solidFill>
                  <a:schemeClr val="tx1"/>
                </a:solidFill>
                <a:effectLst/>
                <a:latin typeface="Arial" panose="020B0604020202020204" pitchFamily="34" charset="0"/>
              </a:rPr>
              <a:t> in potential losses.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Operational Efficiency:</a:t>
            </a:r>
            <a:r>
              <a:rPr kumimoji="0" lang="en-US" altLang="en-US" sz="1800" b="0" i="0" u="none" strike="noStrike" cap="none" normalizeH="0" baseline="0" dirty="0">
                <a:ln>
                  <a:noFill/>
                </a:ln>
                <a:solidFill>
                  <a:schemeClr val="tx1"/>
                </a:solidFill>
                <a:effectLst/>
                <a:latin typeface="Arial" panose="020B0604020202020204" pitchFamily="34" charset="0"/>
              </a:rPr>
              <a:t> * Automated detection reduces the need for large manual audit teams.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 Low False Positive rate minimizes customer service costs related to "unblocking" legitimate accounts.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Risk Mitigation:</a:t>
            </a:r>
            <a:r>
              <a:rPr kumimoji="0" lang="en-US" altLang="en-US" sz="1800" b="0" i="0" u="none" strike="noStrike" cap="none" normalizeH="0" baseline="0" dirty="0">
                <a:ln>
                  <a:noFill/>
                </a:ln>
                <a:solidFill>
                  <a:schemeClr val="tx1"/>
                </a:solidFill>
                <a:effectLst/>
                <a:latin typeface="Arial" panose="020B0604020202020204" pitchFamily="34" charset="0"/>
              </a:rPr>
              <a:t> * The model identified </a:t>
            </a:r>
            <a:r>
              <a:rPr kumimoji="0" lang="en-US" altLang="en-US" sz="1800" b="1" i="0" u="none" strike="noStrike" cap="none" normalizeH="0" baseline="0" dirty="0">
                <a:ln>
                  <a:noFill/>
                </a:ln>
                <a:solidFill>
                  <a:schemeClr val="tx1"/>
                </a:solidFill>
                <a:effectLst/>
                <a:latin typeface="Arial" panose="020B0604020202020204" pitchFamily="34" charset="0"/>
              </a:rPr>
              <a:t>{ false negative}</a:t>
            </a:r>
            <a:r>
              <a:rPr kumimoji="0" lang="en-US" altLang="en-US" sz="1800" b="0" i="0" u="none" strike="noStrike" cap="none" normalizeH="0" baseline="0" dirty="0">
                <a:ln>
                  <a:noFill/>
                </a:ln>
                <a:solidFill>
                  <a:schemeClr val="tx1"/>
                </a:solidFill>
                <a:effectLst/>
                <a:latin typeface="Arial" panose="020B0604020202020204" pitchFamily="34" charset="0"/>
              </a:rPr>
              <a:t> cases it was "unsure" about—these can be routed to a high-priority manual review.</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Deployment Ready:</a:t>
            </a:r>
            <a:r>
              <a:rPr kumimoji="0" lang="en-US" altLang="en-US" sz="1800" b="0" i="0" u="none" strike="noStrike" cap="none" normalizeH="0" baseline="0" dirty="0">
                <a:ln>
                  <a:noFill/>
                </a:ln>
                <a:solidFill>
                  <a:schemeClr val="tx1"/>
                </a:solidFill>
                <a:effectLst/>
                <a:latin typeface="Arial" panose="020B0604020202020204" pitchFamily="34" charset="0"/>
              </a:rPr>
              <a:t> * Model exported as a </a:t>
            </a:r>
            <a:r>
              <a:rPr kumimoji="0" lang="en-US" altLang="en-US" b="0" i="0" u="none" strike="noStrike" cap="none" normalizeH="0" baseline="0" dirty="0">
                <a:ln>
                  <a:noFill/>
                </a:ln>
                <a:solidFill>
                  <a:schemeClr val="tx1"/>
                </a:solidFill>
                <a:effectLst/>
                <a:latin typeface="Arial Unicode MS"/>
              </a:rPr>
              <a:t>.</a:t>
            </a:r>
            <a:r>
              <a:rPr kumimoji="0" lang="en-US" altLang="en-US" b="0" i="0" u="none" strike="noStrike" cap="none" normalizeH="0" baseline="0" dirty="0" err="1">
                <a:ln>
                  <a:noFill/>
                </a:ln>
                <a:solidFill>
                  <a:schemeClr val="tx1"/>
                </a:solidFill>
                <a:effectLst/>
                <a:latin typeface="Arial Unicode MS"/>
              </a:rPr>
              <a:t>pkl</a:t>
            </a:r>
            <a:r>
              <a:rPr kumimoji="0" lang="en-US" altLang="en-US" b="0" i="0" u="none" strike="noStrike" cap="none" normalizeH="0" baseline="0" dirty="0">
                <a:ln>
                  <a:noFill/>
                </a:ln>
                <a:solidFill>
                  <a:schemeClr val="tx1"/>
                </a:solidFill>
                <a:effectLst/>
              </a:rPr>
              <a:t> file for instant integration into banking APIs or a real-time </a:t>
            </a:r>
            <a:r>
              <a:rPr kumimoji="0" lang="en-US" altLang="en-US" sz="1800" b="1" i="0" u="none" strike="noStrike" cap="none" normalizeH="0" baseline="0" dirty="0" err="1">
                <a:ln>
                  <a:noFill/>
                </a:ln>
                <a:solidFill>
                  <a:schemeClr val="tx1"/>
                </a:solidFill>
                <a:effectLst/>
                <a:latin typeface="Arial" panose="020B0604020202020204" pitchFamily="34" charset="0"/>
              </a:rPr>
              <a:t>Streamlit</a:t>
            </a:r>
            <a:r>
              <a:rPr kumimoji="0" lang="en-US" altLang="en-US" sz="1800" b="0" i="0" u="none" strike="noStrike" cap="none" normalizeH="0" baseline="0" dirty="0">
                <a:ln>
                  <a:noFill/>
                </a:ln>
                <a:solidFill>
                  <a:schemeClr val="tx1"/>
                </a:solidFill>
                <a:effectLst/>
                <a:latin typeface="Arial" panose="020B0604020202020204" pitchFamily="34" charset="0"/>
              </a:rPr>
              <a:t> dashboard.</a:t>
            </a:r>
          </a:p>
        </p:txBody>
      </p:sp>
    </p:spTree>
    <p:extLst>
      <p:ext uri="{BB962C8B-B14F-4D97-AF65-F5344CB8AC3E}">
        <p14:creationId xmlns:p14="http://schemas.microsoft.com/office/powerpoint/2010/main" val="3783455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4532E-BD1E-4C6C-4060-B73E3C44757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7663A5-1174-57E1-466F-5669974E73D6}"/>
              </a:ext>
            </a:extLst>
          </p:cNvPr>
          <p:cNvSpPr>
            <a:spLocks noGrp="1"/>
          </p:cNvSpPr>
          <p:nvPr>
            <p:ph type="title"/>
          </p:nvPr>
        </p:nvSpPr>
        <p:spPr>
          <a:xfrm>
            <a:off x="159026" y="99391"/>
            <a:ext cx="10976404" cy="626166"/>
          </a:xfrm>
        </p:spPr>
        <p:txBody>
          <a:bodyPr>
            <a:noAutofit/>
          </a:bodyPr>
          <a:lstStyle/>
          <a:p>
            <a:r>
              <a:rPr lang="en-US" sz="3400" dirty="0"/>
              <a:t>System Deployment: Real-Time AI Detection</a:t>
            </a:r>
            <a:endParaRPr lang="en-IN" sz="3400" dirty="0"/>
          </a:p>
        </p:txBody>
      </p:sp>
      <p:sp>
        <p:nvSpPr>
          <p:cNvPr id="6" name="Rectangle 1">
            <a:extLst>
              <a:ext uri="{FF2B5EF4-FFF2-40B4-BE49-F238E27FC236}">
                <a16:creationId xmlns:a16="http://schemas.microsoft.com/office/drawing/2014/main" id="{259E3356-8DB0-8D71-F30A-06A4F2651786}"/>
              </a:ext>
            </a:extLst>
          </p:cNvPr>
          <p:cNvSpPr>
            <a:spLocks noChangeArrowheads="1"/>
          </p:cNvSpPr>
          <p:nvPr/>
        </p:nvSpPr>
        <p:spPr bwMode="auto">
          <a:xfrm rot="10800000" flipV="1">
            <a:off x="312529" y="1519251"/>
            <a:ext cx="4400826" cy="3370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Live Inference:</a:t>
            </a:r>
            <a:r>
              <a:rPr kumimoji="0" lang="en-US" altLang="en-US" sz="1800" b="0" i="0" u="none" strike="noStrike" cap="none" normalizeH="0" baseline="0" dirty="0">
                <a:ln>
                  <a:noFill/>
                </a:ln>
                <a:solidFill>
                  <a:schemeClr val="tx1"/>
                </a:solidFill>
                <a:effectLst/>
                <a:latin typeface="Google Sans Text"/>
              </a:rPr>
              <a:t> Explain that the Flask server acts as a "Gateway," allowing the website to talk to your </a:t>
            </a:r>
            <a:r>
              <a:rPr kumimoji="0" lang="en-US" altLang="en-US" b="0" i="0" u="none" strike="noStrike" cap="none" normalizeH="0" baseline="0" dirty="0">
                <a:ln>
                  <a:noFill/>
                </a:ln>
                <a:solidFill>
                  <a:schemeClr val="tx1"/>
                </a:solidFill>
                <a:effectLst/>
                <a:latin typeface="Google Sans Text"/>
              </a:rPr>
              <a:t>.</a:t>
            </a:r>
            <a:r>
              <a:rPr kumimoji="0" lang="en-US" altLang="en-US" b="0" i="0" u="none" strike="noStrike" cap="none" normalizeH="0" baseline="0" dirty="0" err="1">
                <a:ln>
                  <a:noFill/>
                </a:ln>
                <a:solidFill>
                  <a:schemeClr val="tx1"/>
                </a:solidFill>
                <a:effectLst/>
                <a:latin typeface="Google Sans Text"/>
              </a:rPr>
              <a:t>pkl</a:t>
            </a:r>
            <a:r>
              <a:rPr kumimoji="0" lang="en-US" altLang="en-US" b="0" i="0" u="none" strike="noStrike" cap="none" normalizeH="0" baseline="0" dirty="0">
                <a:ln>
                  <a:noFill/>
                </a:ln>
                <a:solidFill>
                  <a:schemeClr val="tx1"/>
                </a:solidFill>
                <a:effectLst/>
                <a:latin typeface="Google Sans Text"/>
              </a:rPr>
              <a:t> model file in milliseconds</a:t>
            </a:r>
            <a:r>
              <a:rPr kumimoji="0" lang="en-US" altLang="en-US" sz="1800" b="0" i="0" u="none" strike="noStrike" cap="none" normalizeH="0" baseline="0" dirty="0">
                <a:ln>
                  <a:noFill/>
                </a:ln>
                <a:solidFill>
                  <a:schemeClr val="tx1"/>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Seamless Integration:</a:t>
            </a:r>
            <a:r>
              <a:rPr kumimoji="0" lang="en-US" altLang="en-US" sz="1800" b="0" i="0" u="none" strike="noStrike" cap="none" normalizeH="0" baseline="0" dirty="0">
                <a:ln>
                  <a:noFill/>
                </a:ln>
                <a:solidFill>
                  <a:schemeClr val="tx1"/>
                </a:solidFill>
                <a:effectLst/>
                <a:latin typeface="Google Sans Text"/>
              </a:rPr>
              <a:t> Highlight that you moved from a </a:t>
            </a:r>
            <a:r>
              <a:rPr kumimoji="0" lang="en-US" altLang="en-US" sz="1800" b="0" i="0" u="none" strike="noStrike" cap="none" normalizeH="0" baseline="0" dirty="0" err="1">
                <a:ln>
                  <a:noFill/>
                </a:ln>
                <a:solidFill>
                  <a:schemeClr val="tx1"/>
                </a:solidFill>
                <a:effectLst/>
                <a:latin typeface="Google Sans Text"/>
              </a:rPr>
              <a:t>Jupyter</a:t>
            </a:r>
            <a:r>
              <a:rPr kumimoji="0" lang="en-US" altLang="en-US" sz="1800" b="0" i="0" u="none" strike="noStrike" cap="none" normalizeH="0" baseline="0" dirty="0">
                <a:ln>
                  <a:noFill/>
                </a:ln>
                <a:solidFill>
                  <a:schemeClr val="tx1"/>
                </a:solidFill>
                <a:effectLst/>
                <a:latin typeface="Google Sans Text"/>
              </a:rPr>
              <a:t> Notebook environment to a "Production-Ready" Localhost site.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Strategic Automation:</a:t>
            </a:r>
            <a:r>
              <a:rPr kumimoji="0" lang="en-US" altLang="en-US" sz="1800" b="0" i="0" u="none" strike="noStrike" cap="none" normalizeH="0" baseline="0" dirty="0">
                <a:ln>
                  <a:noFill/>
                </a:ln>
                <a:solidFill>
                  <a:schemeClr val="tx1"/>
                </a:solidFill>
                <a:effectLst/>
                <a:latin typeface="Google Sans Text"/>
              </a:rPr>
              <a:t> Mention that this reduces manual oversight by automating the initial "Screening" of millions of transactions.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B9F4B3DF-A363-A12F-F4A3-342B5EA55B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4398" y="651836"/>
            <a:ext cx="4537763" cy="2552491"/>
          </a:xfrm>
          <a:prstGeom prst="rect">
            <a:avLst/>
          </a:prstGeom>
        </p:spPr>
      </p:pic>
      <p:pic>
        <p:nvPicPr>
          <p:cNvPr id="10" name="Picture 9">
            <a:extLst>
              <a:ext uri="{FF2B5EF4-FFF2-40B4-BE49-F238E27FC236}">
                <a16:creationId xmlns:a16="http://schemas.microsoft.com/office/drawing/2014/main" id="{1DCB9668-6036-4569-0E89-D20E66C4D3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3686" y="3468757"/>
            <a:ext cx="6047410" cy="2464904"/>
          </a:xfrm>
          <a:prstGeom prst="rect">
            <a:avLst/>
          </a:prstGeom>
        </p:spPr>
      </p:pic>
    </p:spTree>
    <p:extLst>
      <p:ext uri="{BB962C8B-B14F-4D97-AF65-F5344CB8AC3E}">
        <p14:creationId xmlns:p14="http://schemas.microsoft.com/office/powerpoint/2010/main" val="3178101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p:txBody>
          <a:bodyPr/>
          <a:lstStyle/>
          <a:p>
            <a:endParaRPr lang="en-IN"/>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344420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p:txBody>
          <a:bodyPr/>
          <a:lstStyle/>
          <a:p>
            <a:endParaRPr lang="en-IN"/>
          </a:p>
        </p:txBody>
      </p:sp>
      <p:sp>
        <p:nvSpPr>
          <p:cNvPr id="5" name="Content Placeholder 4">
            <a:extLst>
              <a:ext uri="{FF2B5EF4-FFF2-40B4-BE49-F238E27FC236}">
                <a16:creationId xmlns:a16="http://schemas.microsoft.com/office/drawing/2014/main" id="{8C74B58E-E923-F7F3-8627-D12DF58EC0C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594365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Title</a:t>
            </a:r>
          </a:p>
        </p:txBody>
      </p:sp>
      <p:sp>
        <p:nvSpPr>
          <p:cNvPr id="2" name="Content Placeholder 1">
            <a:extLst>
              <a:ext uri="{FF2B5EF4-FFF2-40B4-BE49-F238E27FC236}">
                <a16:creationId xmlns:a16="http://schemas.microsoft.com/office/drawing/2014/main" id="{C9565BAE-48A9-8300-4E79-87D77968413B}"/>
              </a:ext>
            </a:extLst>
          </p:cNvPr>
          <p:cNvSpPr>
            <a:spLocks noGrp="1"/>
          </p:cNvSpPr>
          <p:nvPr>
            <p:ph idx="1"/>
          </p:nvPr>
        </p:nvSpPr>
        <p:spPr/>
        <p:txBody>
          <a:bodyPr lIns="0" tIns="0" rIns="0" bIns="0" numCol="2">
            <a:normAutofit/>
          </a:bodyPr>
          <a:lstStyle/>
          <a:p>
            <a:pPr marL="0" indent="0">
              <a:buNone/>
            </a:pPr>
            <a:r>
              <a:rPr lang="en-US" sz="2200" b="1" dirty="0">
                <a:solidFill>
                  <a:schemeClr val="tx1"/>
                </a:solidFill>
              </a:rPr>
              <a:t>C</a:t>
            </a:r>
            <a:r>
              <a:rPr lang="en-IN" sz="2200" b="1" dirty="0" err="1">
                <a:solidFill>
                  <a:schemeClr val="tx1"/>
                </a:solidFill>
              </a:rPr>
              <a:t>ontent</a:t>
            </a:r>
            <a:endParaRPr lang="en-IN" sz="2200" dirty="0"/>
          </a:p>
        </p:txBody>
      </p:sp>
    </p:spTree>
    <p:extLst>
      <p:ext uri="{BB962C8B-B14F-4D97-AF65-F5344CB8AC3E}">
        <p14:creationId xmlns:p14="http://schemas.microsoft.com/office/powerpoint/2010/main" val="2845992452"/>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7069</TotalTime>
  <Words>886</Words>
  <Application>Microsoft Office PowerPoint</Application>
  <PresentationFormat>Widescreen</PresentationFormat>
  <Paragraphs>88</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Arial Unicode MS</vt:lpstr>
      <vt:lpstr>Calibri</vt:lpstr>
      <vt:lpstr>Google Sans Text</vt:lpstr>
      <vt:lpstr>Segoe UI Semilight</vt:lpstr>
      <vt:lpstr>BIA Template</vt:lpstr>
      <vt:lpstr>PowerPoint Presentation</vt:lpstr>
      <vt:lpstr>Agenda : The Business Problem &amp; Objectives</vt:lpstr>
      <vt:lpstr>Data Overview &amp; Exploration (EDA)</vt:lpstr>
      <vt:lpstr>Feature Engineering &amp; Preprocessing</vt:lpstr>
      <vt:lpstr>Model Selection &amp; Training</vt:lpstr>
      <vt:lpstr>Performance Metrics &amp; Evaluation</vt:lpstr>
      <vt:lpstr>Real-Time Business Intelligence Dashboard</vt:lpstr>
      <vt:lpstr>Operational Impact &amp; User Experience</vt:lpstr>
      <vt:lpstr>Financial Impact &amp; Business ROI</vt:lpstr>
      <vt:lpstr>System Deployment: Real-Time AI Detection</vt:lpstr>
      <vt:lpstr> Questions ?</vt:lpstr>
      <vt:lpstr>PowerPoint Presentation</vt:lpstr>
      <vt:lpstr>PowerPoint Presentation</vt:lpstr>
      <vt:lpstr>PowerPoint Presentation</vt:lpstr>
      <vt:lpstr>Title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Mahreen Mariyam</cp:lastModifiedBy>
  <cp:revision>2255</cp:revision>
  <dcterms:created xsi:type="dcterms:W3CDTF">2020-12-23T13:36:00Z</dcterms:created>
  <dcterms:modified xsi:type="dcterms:W3CDTF">2026-03-26T20:30:48Z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